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8288000" cy="10287000"/>
  <p:notesSz cx="6858000" cy="9144000"/>
  <p:defaultTextStyle>
    <a:defPPr>
      <a:defRPr lang="es-CO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 /><Relationship Id="rId33" Type="http://schemas.openxmlformats.org/officeDocument/2006/relationships/tableStyles" Target="tableStyles.xml" /><Relationship Id="rId3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4964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0045777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7118628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6221669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452271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125585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060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951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937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4EFB87-12A7-2F86-2E95-FFE5F6AF62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998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8756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998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147356-4289-1611-3C84-E1ED0FF3F4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4078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307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4514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13229E-EF44-BCAD-987A-C87FAF2831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9252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77039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412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1084A9-58FF-3987-9E76-EBC546A0A5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4019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1765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8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072D-FA72-8C2C-7C96-53BD0B75F0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246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041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2087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E79D5D-EEBB-3498-82C0-82BDE7FA73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7719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6232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96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F97F23-21CF-4CCE-0A85-C44B0F9BBA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588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6410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420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69F5F5-60FD-9CD3-091E-3FB7C05E00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7941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1803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171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FAA7B-5737-5225-20A8-62284E1359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497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4656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786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7AC6D2-50CA-D650-3A8D-514288FEC8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2238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8169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34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7A914C-8C22-246F-9146-800FA3E579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888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8701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197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33D869-ADD6-4E3F-094F-1D23AA0A13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0751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5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912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C9125C-6894-6FE7-AA51-22B39681D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636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5446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81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877545-5004-C368-CB1E-5CFB5AC632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092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8998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56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22C3AC-001D-B4E0-9163-902CFF3D62F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349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8256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68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35840C-F334-BCEB-5651-663EDBABB2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453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829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922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54C38-F5D9-F1E2-CA1F-1356971301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7264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8553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1168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62BF3E-7468-339E-6D47-20B9871DBB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6200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03994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321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F09B87-BC62-849A-781E-9AC4AA0262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404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5778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9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F1AA6-91ED-3764-2D83-EF1A21C644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375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91675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10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6F1D94-5B92-7421-7549-879E72E7C8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51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9990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831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CC073B-8242-5061-9CE8-9007DC8BE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3447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624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1827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64D73C-251F-EBC1-922E-35555AA814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1623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5889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1995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054FBB-6D76-C0D7-C842-8AEBF6C3E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6686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00823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7197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F604CC-56DB-F276-DBC2-38EB52B1E2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856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2044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461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6BDB10-012A-A85D-D6FF-BC4EBFF2AB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2589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0891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8557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17DEE6-E9E8-A654-2005-D9FC7EC819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042634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2295672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615602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840835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12032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3689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0483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350496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816535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18198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3669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597851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45186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4685497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12389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8247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944188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925629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680572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79060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24284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8968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59450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34702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420597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2731959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5583026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9082120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426258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106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949570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05232128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177185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76058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08623926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041292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07184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012159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586914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89375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520579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767167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118429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4502547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394137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598026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3718374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0378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7138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417975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68618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19435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31411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65418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143356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40324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0258749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77395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06047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434990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0546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3813783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20572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www.magnific.com/es/fotos-vectores-gratis/documentos-apilados/10#uuid=c1db2a96-cf75-4f43-9953-0ff814116e46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hyperlink" Target="https://yellow.systems/blog/best-software-development-models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1740031" name="Group 2"/>
          <p:cNvGrpSpPr/>
          <p:nvPr/>
        </p:nvGrpSpPr>
        <p:grpSpPr bwMode="auto">
          <a:xfrm rot="0">
            <a:off x="17086420" y="4451044"/>
            <a:ext cx="1201580" cy="1211105"/>
            <a:chOff x="0" y="0"/>
            <a:chExt cx="1898838" cy="191389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1898838" cy="1913890"/>
            </a:xfrm>
            <a:custGeom>
              <a:avLst/>
              <a:gdLst/>
              <a:ahLst/>
              <a:cxnLst/>
              <a:rect l="l" t="t" r="r" b="b"/>
              <a:pathLst>
                <a:path w="1898838" h="1913890" fill="norm" stroke="1" extrusionOk="0">
                  <a:moveTo>
                    <a:pt x="0" y="0"/>
                  </a:moveTo>
                  <a:lnTo>
                    <a:pt x="1898838" y="0"/>
                  </a:lnTo>
                  <a:lnTo>
                    <a:pt x="1898838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B8D9EF"/>
            </a:solidFill>
          </p:spPr>
        </p:sp>
      </p:grpSp>
      <p:sp>
        <p:nvSpPr>
          <p:cNvPr id="1388555249" name="AutoShape 4"/>
          <p:cNvSpPr/>
          <p:nvPr/>
        </p:nvSpPr>
        <p:spPr bwMode="auto">
          <a:xfrm rot="0">
            <a:off x="17385727" y="5008972"/>
            <a:ext cx="612490" cy="0"/>
          </a:xfrm>
          <a:prstGeom prst="line">
            <a:avLst/>
          </a:prstGeom>
          <a:ln w="47625" cap="flat">
            <a:solidFill>
              <a:srgbClr val="29272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93460276" name="AutoShape 5"/>
          <p:cNvSpPr/>
          <p:nvPr/>
        </p:nvSpPr>
        <p:spPr bwMode="auto">
          <a:xfrm rot="0">
            <a:off x="-170510" y="1019174"/>
            <a:ext cx="1845851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38320559" name="Group 6"/>
          <p:cNvGrpSpPr/>
          <p:nvPr/>
        </p:nvGrpSpPr>
        <p:grpSpPr bwMode="auto">
          <a:xfrm rot="0">
            <a:off x="14953666" y="7598530"/>
            <a:ext cx="1765244" cy="1410027"/>
            <a:chOff x="0" y="0"/>
            <a:chExt cx="643966" cy="514382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43966" cy="514382"/>
            </a:xfrm>
            <a:custGeom>
              <a:avLst/>
              <a:gdLst/>
              <a:ahLst/>
              <a:cxnLst/>
              <a:rect l="l" t="t" r="r" b="b"/>
              <a:pathLst>
                <a:path w="643966" h="514382" fill="norm" stroke="1" extrusionOk="0">
                  <a:moveTo>
                    <a:pt x="0" y="0"/>
                  </a:moveTo>
                  <a:lnTo>
                    <a:pt x="643966" y="0"/>
                  </a:lnTo>
                  <a:lnTo>
                    <a:pt x="643966" y="514382"/>
                  </a:lnTo>
                  <a:lnTo>
                    <a:pt x="0" y="51438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52532649" name="Group 8"/>
          <p:cNvGrpSpPr/>
          <p:nvPr/>
        </p:nvGrpSpPr>
        <p:grpSpPr bwMode="auto">
          <a:xfrm rot="0">
            <a:off x="1364921" y="7598530"/>
            <a:ext cx="1765244" cy="1410027"/>
            <a:chOff x="0" y="0"/>
            <a:chExt cx="643966" cy="514382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643966" cy="514382"/>
            </a:xfrm>
            <a:custGeom>
              <a:avLst/>
              <a:gdLst/>
              <a:ahLst/>
              <a:cxnLst/>
              <a:rect l="l" t="t" r="r" b="b"/>
              <a:pathLst>
                <a:path w="643966" h="514382" fill="norm" stroke="1" extrusionOk="0">
                  <a:moveTo>
                    <a:pt x="0" y="0"/>
                  </a:moveTo>
                  <a:lnTo>
                    <a:pt x="643966" y="0"/>
                  </a:lnTo>
                  <a:lnTo>
                    <a:pt x="643966" y="514382"/>
                  </a:lnTo>
                  <a:lnTo>
                    <a:pt x="0" y="51438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45273934" name="AutoShape 10"/>
          <p:cNvSpPr/>
          <p:nvPr/>
        </p:nvSpPr>
        <p:spPr bwMode="auto">
          <a:xfrm rot="0">
            <a:off x="-170510" y="9258300"/>
            <a:ext cx="1845851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0910493" name="AutoShape 11"/>
          <p:cNvSpPr/>
          <p:nvPr/>
        </p:nvSpPr>
        <p:spPr bwMode="auto">
          <a:xfrm rot="-5400000">
            <a:off x="11947682" y="5138738"/>
            <a:ext cx="10287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07607666" name="AutoShape 12"/>
          <p:cNvSpPr/>
          <p:nvPr/>
        </p:nvSpPr>
        <p:spPr bwMode="auto">
          <a:xfrm rot="-5400000">
            <a:off x="-4110037" y="5138738"/>
            <a:ext cx="10287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29365591" name="Group 13"/>
          <p:cNvGrpSpPr/>
          <p:nvPr/>
        </p:nvGrpSpPr>
        <p:grpSpPr bwMode="auto">
          <a:xfrm rot="0">
            <a:off x="1967632" y="7872024"/>
            <a:ext cx="559823" cy="55982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8D9EF"/>
            </a:solidFill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127000" y="3175"/>
              <a:ext cx="558800" cy="6826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93"/>
                </a:lnSpc>
                <a:defRPr/>
              </a:pPr>
              <a:endParaRPr/>
            </a:p>
          </p:txBody>
        </p:sp>
      </p:grpSp>
      <p:grpSp>
        <p:nvGrpSpPr>
          <p:cNvPr id="1847242934" name="Group 16"/>
          <p:cNvGrpSpPr/>
          <p:nvPr/>
        </p:nvGrpSpPr>
        <p:grpSpPr bwMode="auto">
          <a:xfrm rot="0">
            <a:off x="15613424" y="7929072"/>
            <a:ext cx="445726" cy="44572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B8D9EF"/>
            </a:solidFill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63500" y="-60325"/>
              <a:ext cx="685800" cy="8096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93"/>
                </a:lnSpc>
                <a:defRPr/>
              </a:pPr>
              <a:endParaRPr/>
            </a:p>
          </p:txBody>
        </p:sp>
      </p:grpSp>
      <p:sp>
        <p:nvSpPr>
          <p:cNvPr id="2057618971" name="TextBox 19"/>
          <p:cNvSpPr txBox="1"/>
          <p:nvPr/>
        </p:nvSpPr>
        <p:spPr bwMode="auto">
          <a:xfrm rot="0">
            <a:off x="1623418" y="1995796"/>
            <a:ext cx="14877808" cy="3331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85"/>
              </a:lnSpc>
              <a:defRPr/>
            </a:pPr>
            <a:r>
              <a:rPr lang="en-US" sz="11800" b="1" spc="-306">
                <a:solidFill>
                  <a:srgbClr val="292727"/>
                </a:solidFill>
                <a:latin typeface="Cy Grotesk Wide Bold"/>
                <a:ea typeface="Cy Grotesk Wide Bold"/>
                <a:cs typeface="Cy Grotesk Wide Bold"/>
              </a:rPr>
              <a:t>Presentación de proyecto final</a:t>
            </a:r>
            <a:endParaRPr/>
          </a:p>
        </p:txBody>
      </p:sp>
      <p:sp>
        <p:nvSpPr>
          <p:cNvPr id="78970429" name="TextBox 20"/>
          <p:cNvSpPr txBox="1"/>
          <p:nvPr/>
        </p:nvSpPr>
        <p:spPr bwMode="auto">
          <a:xfrm rot="0">
            <a:off x="2798722" y="1221223"/>
            <a:ext cx="12527201" cy="50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6"/>
              </a:lnSpc>
              <a:defRPr/>
            </a:pPr>
            <a:r>
              <a:rPr lang="en-US" sz="3600" spc="68">
                <a:solidFill>
                  <a:srgbClr val="292727"/>
                </a:solidFill>
                <a:latin typeface="Cy Grotesk Key"/>
                <a:ea typeface="Cy Grotesk Key"/>
                <a:cs typeface="Cy Grotesk Key"/>
              </a:rPr>
              <a:t>UNIVERSIDAD DE CARTAGENA</a:t>
            </a:r>
            <a:endParaRPr/>
          </a:p>
        </p:txBody>
      </p:sp>
      <p:grpSp>
        <p:nvGrpSpPr>
          <p:cNvPr id="1315720519" name="Group 21"/>
          <p:cNvGrpSpPr/>
          <p:nvPr/>
        </p:nvGrpSpPr>
        <p:grpSpPr bwMode="auto">
          <a:xfrm rot="0">
            <a:off x="6628283" y="7598530"/>
            <a:ext cx="5031434" cy="2634462"/>
            <a:chOff x="0" y="0"/>
            <a:chExt cx="6708579" cy="3512616"/>
          </a:xfrm>
        </p:grpSpPr>
        <p:sp>
          <p:nvSpPr>
            <p:cNvPr id="22" name="TextBox 22"/>
            <p:cNvSpPr txBox="1"/>
            <p:nvPr/>
          </p:nvSpPr>
          <p:spPr bwMode="auto">
            <a:xfrm rot="0">
              <a:off x="0" y="-47625"/>
              <a:ext cx="6708579" cy="294830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  <a:defRPr/>
              </a:pPr>
              <a:r>
                <a:rPr lang="en-US" sz="2100">
                  <a:solidFill>
                    <a:srgbClr val="292727"/>
                  </a:solidFill>
                  <a:latin typeface="Cy Grotesk Key"/>
                  <a:ea typeface="Cy Grotesk Key"/>
                  <a:cs typeface="Cy Grotesk Key"/>
                </a:rPr>
                <a:t>Integrantes:</a:t>
              </a:r>
              <a:endParaRPr/>
            </a:p>
            <a:p>
              <a:pPr marL="0" lvl="0" indent="0" algn="ctr">
                <a:lnSpc>
                  <a:spcPts val="2939"/>
                </a:lnSpc>
                <a:spcBef>
                  <a:spcPts val="0"/>
                </a:spcBef>
                <a:defRPr/>
              </a:pPr>
              <a:r>
                <a:rPr lang="en-US" sz="2100" u="none">
                  <a:solidFill>
                    <a:srgbClr val="292727"/>
                  </a:solidFill>
                  <a:latin typeface="Cy Grotesk Key"/>
                  <a:ea typeface="Cy Grotesk Key"/>
                  <a:cs typeface="Cy Grotesk Key"/>
                </a:rPr>
                <a:t>Julian David Camargo Padilla</a:t>
              </a:r>
              <a:endParaRPr/>
            </a:p>
            <a:p>
              <a:pPr marL="0" lvl="0" indent="0" algn="ctr">
                <a:lnSpc>
                  <a:spcPts val="2939"/>
                </a:lnSpc>
                <a:spcBef>
                  <a:spcPts val="0"/>
                </a:spcBef>
                <a:defRPr/>
              </a:pPr>
              <a:r>
                <a:rPr lang="en-US" sz="2100" u="none">
                  <a:solidFill>
                    <a:srgbClr val="292727"/>
                  </a:solidFill>
                  <a:latin typeface="Cy Grotesk Key"/>
                  <a:ea typeface="Cy Grotesk Key"/>
                  <a:cs typeface="Cy Grotesk Key"/>
                </a:rPr>
                <a:t>Leon Alejandro Orrego Bello </a:t>
              </a:r>
              <a:endParaRPr/>
            </a:p>
            <a:p>
              <a:pPr marL="0" lvl="0" indent="0" algn="ctr">
                <a:lnSpc>
                  <a:spcPts val="2939"/>
                </a:lnSpc>
                <a:spcBef>
                  <a:spcPts val="0"/>
                </a:spcBef>
                <a:defRPr/>
              </a:pPr>
              <a:r>
                <a:rPr lang="en-US" sz="2100" u="none">
                  <a:solidFill>
                    <a:srgbClr val="292727"/>
                  </a:solidFill>
                  <a:latin typeface="Cy Grotesk Key"/>
                  <a:ea typeface="Cy Grotesk Key"/>
                  <a:cs typeface="Cy Grotesk Key"/>
                </a:rPr>
                <a:t>Dago David Palmera navarro</a:t>
              </a:r>
              <a:endParaRPr/>
            </a:p>
            <a:p>
              <a:pPr marL="0" lvl="0" indent="0" algn="ctr">
                <a:lnSpc>
                  <a:spcPts val="2939"/>
                </a:lnSpc>
                <a:spcBef>
                  <a:spcPts val="0"/>
                </a:spcBef>
                <a:defRPr/>
              </a:pPr>
              <a:endParaRPr lang="en-US" sz="2100" u="none">
                <a:solidFill>
                  <a:srgbClr val="292727"/>
                </a:solidFill>
                <a:latin typeface="Cy Grotesk Key"/>
                <a:ea typeface="Cy Grotesk Key"/>
                <a:cs typeface="Cy Grotesk Key"/>
              </a:endParaRPr>
            </a:p>
            <a:p>
              <a:pPr marL="0" lvl="0" indent="0" algn="ctr">
                <a:lnSpc>
                  <a:spcPts val="2939"/>
                </a:lnSpc>
                <a:spcBef>
                  <a:spcPts val="0"/>
                </a:spcBef>
                <a:defRPr/>
              </a:pPr>
              <a:r>
                <a:rPr lang="en-US" sz="2100" u="none">
                  <a:solidFill>
                    <a:srgbClr val="292727"/>
                  </a:solidFill>
                  <a:latin typeface="Cy Grotesk Key"/>
                  <a:ea typeface="Cy Grotesk Key"/>
                  <a:cs typeface="Cy Grotesk Key"/>
                </a:rPr>
                <a:t>Asignatura: Ingenieria de Software</a:t>
              </a: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 rot="0">
              <a:off x="0" y="3040810"/>
              <a:ext cx="6708579" cy="47180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  <a:spcBef>
                  <a:spcPts val="0"/>
                </a:spcBef>
                <a:defRPr/>
              </a:pPr>
              <a:r>
                <a:rPr lang="en-US" sz="2100" spc="-41">
                  <a:solidFill>
                    <a:srgbClr val="292727"/>
                  </a:solidFill>
                  <a:latin typeface="Cy Grotesk Key"/>
                  <a:ea typeface="Cy Grotesk Key"/>
                  <a:cs typeface="Cy Grotesk Key"/>
                </a:rPr>
                <a:t>Profesor: Martin Monroy Rios</a:t>
              </a:r>
              <a:endParaRPr/>
            </a:p>
          </p:txBody>
        </p:sp>
      </p:grpSp>
      <p:sp>
        <p:nvSpPr>
          <p:cNvPr id="2078808234" name="TextBox 24"/>
          <p:cNvSpPr txBox="1"/>
          <p:nvPr/>
        </p:nvSpPr>
        <p:spPr bwMode="auto">
          <a:xfrm rot="0">
            <a:off x="1841101" y="5738349"/>
            <a:ext cx="14877808" cy="109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6"/>
              </a:lnSpc>
              <a:defRPr/>
            </a:pPr>
            <a:r>
              <a:rPr lang="en-US" sz="7700" b="1" spc="-200">
                <a:solidFill>
                  <a:srgbClr val="292727"/>
                </a:solidFill>
                <a:latin typeface="Cy Grotesk Wide Bold"/>
                <a:ea typeface="Cy Grotesk Wide Bold"/>
                <a:cs typeface="Cy Grotesk Wide Bold"/>
              </a:rPr>
              <a:t>SABANA BRAVA 314 PMS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532550" name="AutoShape 2"/>
          <p:cNvSpPr/>
          <p:nvPr/>
        </p:nvSpPr>
        <p:spPr bwMode="auto">
          <a:xfrm>
            <a:off x="0" y="1023938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89134575" name="AutoShape 3"/>
          <p:cNvSpPr/>
          <p:nvPr/>
        </p:nvSpPr>
        <p:spPr bwMode="auto">
          <a:xfrm>
            <a:off x="0" y="9253538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8185651" name="Freeform 4"/>
          <p:cNvSpPr/>
          <p:nvPr/>
        </p:nvSpPr>
        <p:spPr bwMode="auto">
          <a:xfrm rot="0" flipH="0" flipV="0">
            <a:off x="9854640" y="2070552"/>
            <a:ext cx="6095983" cy="6095983"/>
          </a:xfrm>
          <a:custGeom>
            <a:avLst/>
            <a:gdLst/>
            <a:ahLst/>
            <a:cxnLst/>
            <a:rect l="l" t="t" r="r" b="b"/>
            <a:pathLst>
              <a:path w="6095983" h="6095983" fill="norm" stroke="1" extrusionOk="0">
                <a:moveTo>
                  <a:pt x="0" y="0"/>
                </a:moveTo>
                <a:lnTo>
                  <a:pt x="6095983" y="0"/>
                </a:lnTo>
                <a:lnTo>
                  <a:pt x="6095983" y="6095984"/>
                </a:lnTo>
                <a:lnTo>
                  <a:pt x="0" y="6095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921502239" name="TextBox 5"/>
          <p:cNvSpPr txBox="1"/>
          <p:nvPr/>
        </p:nvSpPr>
        <p:spPr bwMode="auto">
          <a:xfrm rot="0">
            <a:off x="646474" y="1118814"/>
            <a:ext cx="4590965" cy="951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26"/>
              </a:lnSpc>
              <a:defRPr/>
            </a:pPr>
            <a:r>
              <a:rPr lang="en-US" sz="6600" spc="-171">
                <a:solidFill>
                  <a:srgbClr val="292727"/>
                </a:solidFill>
                <a:latin typeface="Cy Grotesk Key"/>
                <a:ea typeface="Cy Grotesk Key"/>
                <a:cs typeface="Cy Grotesk Key"/>
              </a:rPr>
              <a:t>Índice</a:t>
            </a:r>
            <a:endParaRPr/>
          </a:p>
        </p:txBody>
      </p:sp>
      <p:sp>
        <p:nvSpPr>
          <p:cNvPr id="555022172" name="TextBox 6"/>
          <p:cNvSpPr txBox="1"/>
          <p:nvPr/>
        </p:nvSpPr>
        <p:spPr bwMode="auto">
          <a:xfrm rot="0">
            <a:off x="646474" y="1960815"/>
            <a:ext cx="6271548" cy="728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18" lvl="1" indent="-194309" algn="l">
              <a:lnSpc>
                <a:spcPts val="3185"/>
              </a:lnSpc>
              <a:buAutoNum type="arabi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Problema</a:t>
            </a:r>
            <a:endParaRPr>
              <a:latin typeface="Arial"/>
              <a:cs typeface="Arial"/>
            </a:endParaRPr>
          </a:p>
          <a:p>
            <a:pPr marL="777237" lvl="2" indent="-259079" algn="l">
              <a:lnSpc>
                <a:spcPts val="3185"/>
              </a:lnSpc>
              <a:buAutoNum type="alphaL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Contexto</a:t>
            </a:r>
            <a:endParaRPr>
              <a:latin typeface="Arial"/>
              <a:cs typeface="Arial"/>
            </a:endParaRPr>
          </a:p>
          <a:p>
            <a:pPr marL="777237" lvl="2" indent="-259079" algn="l">
              <a:lnSpc>
                <a:spcPts val="3185"/>
              </a:lnSpc>
              <a:buAutoNum type="alphaL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Justificación </a:t>
            </a:r>
            <a:endParaRPr>
              <a:latin typeface="Arial"/>
              <a:cs typeface="Arial"/>
            </a:endParaRPr>
          </a:p>
          <a:p>
            <a:pPr marL="777237" lvl="2" indent="-259079" algn="l">
              <a:lnSpc>
                <a:spcPts val="3185"/>
              </a:lnSpc>
              <a:buAutoNum type="alphaL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Objetivos</a:t>
            </a:r>
            <a:endParaRPr>
              <a:latin typeface="Arial"/>
              <a:cs typeface="Arial"/>
            </a:endParaRPr>
          </a:p>
          <a:p>
            <a:pPr marL="388618" lvl="1" indent="-194309" algn="l">
              <a:lnSpc>
                <a:spcPts val="3185"/>
              </a:lnSpc>
              <a:buAutoNum type="arabi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Modelo de negocio</a:t>
            </a:r>
            <a:endParaRPr>
              <a:latin typeface="Arial"/>
              <a:cs typeface="Arial"/>
            </a:endParaRPr>
          </a:p>
          <a:p>
            <a:pPr marL="777237" lvl="2" indent="-259079" algn="l">
              <a:lnSpc>
                <a:spcPts val="3185"/>
              </a:lnSpc>
              <a:buAutoNum type="alphaL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Procesos de negocio</a:t>
            </a:r>
            <a:endParaRPr>
              <a:latin typeface="Arial"/>
              <a:cs typeface="Arial"/>
            </a:endParaRPr>
          </a:p>
          <a:p>
            <a:pPr marL="777237" lvl="2" indent="-259079" algn="l">
              <a:lnSpc>
                <a:spcPts val="3185"/>
              </a:lnSpc>
              <a:buAutoNum type="alphaL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Casos de uso </a:t>
            </a:r>
            <a:r>
              <a:rPr lang="es-CO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mundo real</a:t>
            </a:r>
            <a:endParaRPr>
              <a:latin typeface="Arial"/>
              <a:cs typeface="Arial"/>
            </a:endParaRPr>
          </a:p>
          <a:p>
            <a:pPr marL="777237" lvl="2" indent="-259079" algn="l">
              <a:lnSpc>
                <a:spcPts val="3185"/>
              </a:lnSpc>
              <a:buAutoNum type="alphaL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Modelo de dominio</a:t>
            </a:r>
            <a:endParaRPr>
              <a:latin typeface="Arial"/>
              <a:cs typeface="Arial"/>
            </a:endParaRPr>
          </a:p>
          <a:p>
            <a:pPr marL="388618" lvl="1" indent="-194309" algn="l">
              <a:lnSpc>
                <a:spcPts val="3185"/>
              </a:lnSpc>
              <a:buAutoNum type="arabi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Requisitos</a:t>
            </a:r>
            <a:endParaRPr>
              <a:latin typeface="Arial"/>
              <a:cs typeface="Arial"/>
            </a:endParaRPr>
          </a:p>
          <a:p>
            <a:pPr marL="388618" lvl="1" indent="-194309" algn="l">
              <a:lnSpc>
                <a:spcPts val="3185"/>
              </a:lnSpc>
              <a:buAutoNum type="arabi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Modelo de diseño</a:t>
            </a:r>
            <a:endParaRPr>
              <a:latin typeface="Arial"/>
              <a:cs typeface="Arial"/>
            </a:endParaRPr>
          </a:p>
          <a:p>
            <a:pPr marL="777237" lvl="2" indent="-259079" algn="l">
              <a:lnSpc>
                <a:spcPts val="3185"/>
              </a:lnSpc>
              <a:buAutoNum type="alphaL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Vista de escenarios</a:t>
            </a:r>
            <a:endParaRPr>
              <a:latin typeface="Arial"/>
              <a:cs typeface="Arial"/>
            </a:endParaRPr>
          </a:p>
          <a:p>
            <a:pPr marL="777237" lvl="2" indent="-259079" algn="l">
              <a:lnSpc>
                <a:spcPts val="3185"/>
              </a:lnSpc>
              <a:buAutoNum type="alphaL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vista logica</a:t>
            </a:r>
            <a:endParaRPr>
              <a:latin typeface="Arial"/>
              <a:cs typeface="Arial"/>
            </a:endParaRPr>
          </a:p>
          <a:p>
            <a:pPr marL="777237" lvl="2" indent="-259079" algn="l">
              <a:lnSpc>
                <a:spcPts val="3185"/>
              </a:lnSpc>
              <a:buAutoNum type="alphaL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Vista de procesos</a:t>
            </a:r>
            <a:endParaRPr>
              <a:latin typeface="Arial"/>
              <a:cs typeface="Arial"/>
            </a:endParaRPr>
          </a:p>
          <a:p>
            <a:pPr marL="388618" lvl="1" indent="-194309" algn="l">
              <a:lnSpc>
                <a:spcPts val="3185"/>
              </a:lnSpc>
              <a:buAutoNum type="arabi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Modelo de implementacion</a:t>
            </a:r>
            <a:endParaRPr>
              <a:latin typeface="Arial"/>
              <a:cs typeface="Arial"/>
            </a:endParaRPr>
          </a:p>
          <a:p>
            <a:pPr marL="777237" lvl="2" indent="-259079" algn="l">
              <a:lnSpc>
                <a:spcPts val="3185"/>
              </a:lnSpc>
              <a:buAutoNum type="alphaL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Vista de desarrollo</a:t>
            </a:r>
            <a:endParaRPr>
              <a:latin typeface="Arial"/>
              <a:cs typeface="Arial"/>
            </a:endParaRPr>
          </a:p>
          <a:p>
            <a:pPr marL="777237" lvl="2" indent="-259079" algn="l">
              <a:lnSpc>
                <a:spcPts val="3185"/>
              </a:lnSpc>
              <a:buAutoNum type="alphaL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Vista fisica </a:t>
            </a:r>
            <a:endParaRPr>
              <a:latin typeface="Arial"/>
              <a:cs typeface="Arial"/>
            </a:endParaRPr>
          </a:p>
          <a:p>
            <a:pPr marL="388618" lvl="1" indent="-194309" algn="l">
              <a:lnSpc>
                <a:spcPts val="3185"/>
              </a:lnSpc>
              <a:buAutoNum type="arabi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Conclusiones </a:t>
            </a:r>
            <a:endParaRPr>
              <a:latin typeface="Arial"/>
              <a:cs typeface="Arial"/>
            </a:endParaRPr>
          </a:p>
          <a:p>
            <a:pPr marL="388618" lvl="1" indent="-194309" algn="l">
              <a:lnSpc>
                <a:spcPts val="3185"/>
              </a:lnSpc>
              <a:buAutoNum type="arabicPeriod" startAt="1"/>
              <a:defRPr/>
            </a:pP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 Bibliografia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231358" name="AutoShape 2"/>
          <p:cNvSpPr/>
          <p:nvPr/>
        </p:nvSpPr>
        <p:spPr bwMode="auto">
          <a:xfrm rot="0">
            <a:off x="-170510" y="1019174"/>
            <a:ext cx="1845851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05396651" name="AutoShape 3"/>
          <p:cNvSpPr/>
          <p:nvPr/>
        </p:nvSpPr>
        <p:spPr bwMode="auto">
          <a:xfrm rot="0">
            <a:off x="0" y="9258300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07998734" name="AutoShape 4"/>
          <p:cNvSpPr/>
          <p:nvPr/>
        </p:nvSpPr>
        <p:spPr bwMode="auto">
          <a:xfrm rot="-5400000">
            <a:off x="-4110037" y="5138738"/>
            <a:ext cx="10287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77784298" name="Freeform 5"/>
          <p:cNvSpPr/>
          <p:nvPr/>
        </p:nvSpPr>
        <p:spPr bwMode="auto">
          <a:xfrm rot="0" flipH="0" flipV="0">
            <a:off x="11677094" y="1429028"/>
            <a:ext cx="6024773" cy="6024773"/>
          </a:xfrm>
          <a:custGeom>
            <a:avLst/>
            <a:gdLst/>
            <a:ahLst/>
            <a:cxnLst/>
            <a:rect l="l" t="t" r="r" b="b"/>
            <a:pathLst>
              <a:path w="6024773" h="6024773" fill="norm" stroke="1" extrusionOk="0">
                <a:moveTo>
                  <a:pt x="0" y="0"/>
                </a:moveTo>
                <a:lnTo>
                  <a:pt x="6024774" y="0"/>
                </a:lnTo>
                <a:lnTo>
                  <a:pt x="6024774" y="6024773"/>
                </a:lnTo>
                <a:lnTo>
                  <a:pt x="0" y="60247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53480619" name="TextBox 6"/>
          <p:cNvSpPr txBox="1"/>
          <p:nvPr/>
        </p:nvSpPr>
        <p:spPr bwMode="auto">
          <a:xfrm rot="0">
            <a:off x="1312873" y="2427604"/>
            <a:ext cx="9291498" cy="2347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  <a:spcBef>
                <a:spcPts val="0"/>
              </a:spcBef>
              <a:defRPr/>
            </a:pPr>
            <a:r>
              <a:rPr lang="en-US" sz="2200">
                <a:solidFill>
                  <a:srgbClr val="292727"/>
                </a:solidFill>
                <a:latin typeface="Arial"/>
                <a:ea typeface="Arial"/>
                <a:cs typeface="Arial"/>
              </a:rPr>
              <a:t>El hotel Sabana Brava 314 ha gestionado sus operaciones como reservas, contratación y facturación de forma manual, lo que ha derivado en desorganización de la información, descuadres en el estado de habitaciones y demoras en la atención a las empresas del sector petrolero. La ausencia de un sistema centralizado representa una limitación crítica dado el volumen de trabajadores y compañías que dependen del servicio.</a:t>
            </a:r>
            <a:endParaRPr>
              <a:latin typeface="Arial"/>
              <a:cs typeface="Arial"/>
            </a:endParaRPr>
          </a:p>
        </p:txBody>
      </p:sp>
      <p:sp>
        <p:nvSpPr>
          <p:cNvPr id="752708034" name="TextBox 7"/>
          <p:cNvSpPr txBox="1"/>
          <p:nvPr/>
        </p:nvSpPr>
        <p:spPr bwMode="auto">
          <a:xfrm rot="0">
            <a:off x="1303349" y="1277922"/>
            <a:ext cx="9291139" cy="93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3"/>
              </a:lnSpc>
              <a:defRPr/>
            </a:pPr>
            <a:r>
              <a:rPr lang="en-US" sz="6400" spc="-166">
                <a:solidFill>
                  <a:srgbClr val="292727"/>
                </a:solidFill>
                <a:latin typeface="Cy Grotesk Wide"/>
                <a:ea typeface="Cy Grotesk Wide"/>
                <a:cs typeface="Cy Grotesk Wide"/>
              </a:rPr>
              <a:t>Contexto</a:t>
            </a:r>
            <a:endParaRPr/>
          </a:p>
        </p:txBody>
      </p:sp>
      <p:sp>
        <p:nvSpPr>
          <p:cNvPr id="1198095814" name=""/>
          <p:cNvSpPr txBox="1"/>
          <p:nvPr/>
        </p:nvSpPr>
        <p:spPr bwMode="auto">
          <a:xfrm rot="0" flipH="0" flipV="0">
            <a:off x="11546249" y="7505699"/>
            <a:ext cx="615741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Tomado de: </a:t>
            </a:r>
            <a:r>
              <a:rPr sz="1600" u="sng">
                <a:solidFill>
                  <a:schemeClr val="hlink"/>
                </a:solidFill>
                <a:hlinkClick r:id="rId4" tooltip=""/>
              </a:rPr>
              <a:t>Página 10 | Imágenes de Documentos apilados - Descarga gratuita en Magnific (antes Freepik)</a:t>
            </a:r>
            <a:endParaRPr sz="1600"/>
          </a:p>
        </p:txBody>
      </p:sp>
      <p:sp>
        <p:nvSpPr>
          <p:cNvPr id="1206238008" name="TextBox 8"/>
          <p:cNvSpPr txBox="1"/>
          <p:nvPr/>
        </p:nvSpPr>
        <p:spPr bwMode="auto">
          <a:xfrm rot="0">
            <a:off x="11772675" y="7434750"/>
            <a:ext cx="5930271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02414" name="AutoShape 2"/>
          <p:cNvSpPr/>
          <p:nvPr/>
        </p:nvSpPr>
        <p:spPr bwMode="auto">
          <a:xfrm rot="0">
            <a:off x="-170510" y="1019174"/>
            <a:ext cx="1845851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85492579" name="AutoShape 3"/>
          <p:cNvSpPr/>
          <p:nvPr/>
        </p:nvSpPr>
        <p:spPr bwMode="auto">
          <a:xfrm rot="0">
            <a:off x="0" y="9258300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4312913" name="AutoShape 4"/>
          <p:cNvSpPr/>
          <p:nvPr/>
        </p:nvSpPr>
        <p:spPr bwMode="auto">
          <a:xfrm flipV="1">
            <a:off x="579049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73931014" name="TextBox 5"/>
          <p:cNvSpPr txBox="1"/>
          <p:nvPr/>
        </p:nvSpPr>
        <p:spPr bwMode="auto">
          <a:xfrm rot="0">
            <a:off x="1642683" y="2489735"/>
            <a:ext cx="5572327" cy="39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92727"/>
                </a:solidFill>
                <a:latin typeface="Arial"/>
                <a:ea typeface="Arial"/>
                <a:cs typeface="Arial"/>
              </a:rPr>
              <a:t>Pertinencia</a:t>
            </a:r>
            <a:endParaRPr>
              <a:latin typeface="Arial"/>
              <a:cs typeface="Arial"/>
            </a:endParaRPr>
          </a:p>
          <a:p>
            <a:pPr algn="l">
              <a:lnSpc>
                <a:spcPts val="2800"/>
              </a:lnSpc>
              <a:defRPr/>
            </a:pPr>
            <a:endParaRPr sz="2000">
              <a:solidFill>
                <a:srgbClr val="292727"/>
              </a:solidFill>
              <a:latin typeface="Arial"/>
              <a:cs typeface="Arial"/>
            </a:endParaRPr>
          </a:p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92727"/>
                </a:solidFill>
                <a:latin typeface="Arial"/>
                <a:ea typeface="Arial"/>
                <a:cs typeface="Arial"/>
              </a:rPr>
              <a:t>Zona de alta demanda hotelera por actividad petrolera.</a:t>
            </a:r>
            <a:endParaRPr>
              <a:latin typeface="Arial"/>
              <a:cs typeface="Arial"/>
            </a:endParaRPr>
          </a:p>
          <a:p>
            <a:pPr algn="l">
              <a:lnSpc>
                <a:spcPts val="2800"/>
              </a:lnSpc>
              <a:defRPr/>
            </a:pPr>
            <a:endParaRPr sz="2000">
              <a:solidFill>
                <a:srgbClr val="292727"/>
              </a:solidFill>
              <a:latin typeface="Arial"/>
              <a:cs typeface="Arial"/>
            </a:endParaRPr>
          </a:p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92727"/>
                </a:solidFill>
                <a:latin typeface="Arial"/>
                <a:ea typeface="Arial"/>
                <a:cs typeface="Arial"/>
              </a:rPr>
              <a:t>Soporte esencial cuando los campamentos son insuficientes.</a:t>
            </a:r>
            <a:endParaRPr>
              <a:latin typeface="Arial"/>
              <a:cs typeface="Arial"/>
            </a:endParaRPr>
          </a:p>
          <a:p>
            <a:pPr algn="l">
              <a:lnSpc>
                <a:spcPts val="2800"/>
              </a:lnSpc>
              <a:defRPr/>
            </a:pPr>
            <a:endParaRPr sz="2000">
              <a:solidFill>
                <a:srgbClr val="292727"/>
              </a:solidFill>
              <a:latin typeface="Arial"/>
              <a:cs typeface="Arial"/>
            </a:endParaRPr>
          </a:p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92727"/>
                </a:solidFill>
                <a:latin typeface="Arial"/>
                <a:ea typeface="Arial"/>
                <a:cs typeface="Arial"/>
              </a:rPr>
              <a:t>Necesidad real y documentada del establecimiento.</a:t>
            </a:r>
            <a:endParaRPr>
              <a:latin typeface="Arial"/>
              <a:cs typeface="Arial"/>
            </a:endParaRPr>
          </a:p>
          <a:p>
            <a:pPr algn="l">
              <a:lnSpc>
                <a:spcPts val="3080"/>
              </a:lnSpc>
              <a:spcBef>
                <a:spcPts val="0"/>
              </a:spcBef>
              <a:defRPr/>
            </a:pPr>
            <a:endParaRPr sz="2000">
              <a:solidFill>
                <a:srgbClr val="292727"/>
              </a:solidFill>
              <a:latin typeface="Arial"/>
              <a:cs typeface="Arial"/>
            </a:endParaRPr>
          </a:p>
        </p:txBody>
      </p:sp>
      <p:sp>
        <p:nvSpPr>
          <p:cNvPr id="2140556731" name="TextBox 6"/>
          <p:cNvSpPr txBox="1"/>
          <p:nvPr/>
        </p:nvSpPr>
        <p:spPr bwMode="auto">
          <a:xfrm rot="0">
            <a:off x="1202936" y="1066799"/>
            <a:ext cx="9291498" cy="90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3"/>
              </a:lnSpc>
              <a:defRPr/>
            </a:pPr>
            <a:r>
              <a:rPr lang="en-US" sz="6400" spc="-166">
                <a:solidFill>
                  <a:srgbClr val="292727"/>
                </a:solidFill>
                <a:latin typeface="Arial"/>
                <a:ea typeface="Arial"/>
                <a:cs typeface="Arial"/>
              </a:rPr>
              <a:t>Justificacion</a:t>
            </a:r>
            <a:endParaRPr/>
          </a:p>
        </p:txBody>
      </p:sp>
      <p:sp>
        <p:nvSpPr>
          <p:cNvPr id="865045049" name="TextBox 7"/>
          <p:cNvSpPr txBox="1"/>
          <p:nvPr/>
        </p:nvSpPr>
        <p:spPr bwMode="auto">
          <a:xfrm rot="0">
            <a:off x="8825225" y="2489734"/>
            <a:ext cx="5573046" cy="39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92727"/>
                </a:solidFill>
                <a:latin typeface="Arial"/>
                <a:ea typeface="Arial"/>
                <a:cs typeface="Arial"/>
              </a:rPr>
              <a:t>Relevancia</a:t>
            </a:r>
            <a:endParaRPr>
              <a:latin typeface="Arial"/>
              <a:cs typeface="Arial"/>
            </a:endParaRPr>
          </a:p>
          <a:p>
            <a:pPr algn="l">
              <a:lnSpc>
                <a:spcPts val="2800"/>
              </a:lnSpc>
              <a:defRPr/>
            </a:pPr>
            <a:endParaRPr sz="2000">
              <a:solidFill>
                <a:srgbClr val="292727"/>
              </a:solidFill>
              <a:latin typeface="Arial"/>
              <a:cs typeface="Arial"/>
            </a:endParaRPr>
          </a:p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92727"/>
                </a:solidFill>
                <a:latin typeface="Arial"/>
                <a:ea typeface="Arial"/>
                <a:cs typeface="Arial"/>
              </a:rPr>
              <a:t>Digitalizacion de reservas, habitaciones, contratos y facturas.</a:t>
            </a:r>
            <a:endParaRPr>
              <a:latin typeface="Arial"/>
              <a:cs typeface="Arial"/>
            </a:endParaRPr>
          </a:p>
          <a:p>
            <a:pPr algn="l">
              <a:lnSpc>
                <a:spcPts val="2800"/>
              </a:lnSpc>
              <a:defRPr/>
            </a:pPr>
            <a:endParaRPr sz="2000">
              <a:solidFill>
                <a:srgbClr val="292727"/>
              </a:solidFill>
              <a:latin typeface="Arial"/>
              <a:cs typeface="Arial"/>
            </a:endParaRPr>
          </a:p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92727"/>
                </a:solidFill>
                <a:latin typeface="Arial"/>
                <a:ea typeface="Arial"/>
                <a:cs typeface="Arial"/>
              </a:rPr>
              <a:t>Reduccion de errores y mayor organizacion.</a:t>
            </a:r>
            <a:endParaRPr>
              <a:latin typeface="Arial"/>
              <a:cs typeface="Arial"/>
            </a:endParaRPr>
          </a:p>
          <a:p>
            <a:pPr algn="l">
              <a:lnSpc>
                <a:spcPts val="2799"/>
              </a:lnSpc>
              <a:defRPr/>
            </a:pPr>
            <a:endParaRPr sz="2000">
              <a:solidFill>
                <a:srgbClr val="292727"/>
              </a:solidFill>
              <a:latin typeface="Arial"/>
              <a:cs typeface="Arial"/>
            </a:endParaRPr>
          </a:p>
          <a:p>
            <a:pPr algn="l">
              <a:lnSpc>
                <a:spcPts val="2800"/>
              </a:lnSpc>
              <a:defRPr/>
            </a:pPr>
            <a:endParaRPr sz="2000">
              <a:solidFill>
                <a:srgbClr val="292727"/>
              </a:solidFill>
              <a:latin typeface="Arial"/>
              <a:cs typeface="Arial"/>
            </a:endParaRPr>
          </a:p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92727"/>
                </a:solidFill>
                <a:latin typeface="Arial"/>
                <a:ea typeface="Arial"/>
                <a:cs typeface="Arial"/>
              </a:rPr>
              <a:t>Mejor atencion y respuesta a las empresas clientes.</a:t>
            </a:r>
            <a:endParaRPr>
              <a:latin typeface="Arial"/>
              <a:cs typeface="Arial"/>
            </a:endParaRPr>
          </a:p>
          <a:p>
            <a:pPr algn="l">
              <a:lnSpc>
                <a:spcPts val="3080"/>
              </a:lnSpc>
              <a:defRPr/>
            </a:pPr>
            <a:endParaRPr sz="2000">
              <a:solidFill>
                <a:srgbClr val="292727"/>
              </a:solidFill>
              <a:latin typeface="Arial"/>
              <a:cs typeface="Arial"/>
            </a:endParaRPr>
          </a:p>
        </p:txBody>
      </p:sp>
      <p:sp>
        <p:nvSpPr>
          <p:cNvPr id="1404202745" name="AutoShape 8"/>
          <p:cNvSpPr/>
          <p:nvPr/>
        </p:nvSpPr>
        <p:spPr bwMode="auto">
          <a:xfrm>
            <a:off x="1202937" y="2898682"/>
            <a:ext cx="1274773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78488133" name="AutoShape 9"/>
          <p:cNvSpPr/>
          <p:nvPr/>
        </p:nvSpPr>
        <p:spPr bwMode="auto">
          <a:xfrm>
            <a:off x="1202937" y="4077159"/>
            <a:ext cx="1274773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14436" name="AutoShape 10"/>
          <p:cNvSpPr/>
          <p:nvPr/>
        </p:nvSpPr>
        <p:spPr bwMode="auto">
          <a:xfrm flipV="1">
            <a:off x="1202937" y="5138738"/>
            <a:ext cx="12747730" cy="4762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32427199" name="AutoShape 11"/>
          <p:cNvSpPr/>
          <p:nvPr/>
        </p:nvSpPr>
        <p:spPr bwMode="auto">
          <a:xfrm>
            <a:off x="1202937" y="6196011"/>
            <a:ext cx="1274773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313459" name="AutoShape 2"/>
          <p:cNvSpPr/>
          <p:nvPr/>
        </p:nvSpPr>
        <p:spPr bwMode="auto">
          <a:xfrm rot="0">
            <a:off x="-170510" y="1019174"/>
            <a:ext cx="1845851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36934992" name="AutoShape 3"/>
          <p:cNvSpPr/>
          <p:nvPr/>
        </p:nvSpPr>
        <p:spPr bwMode="auto">
          <a:xfrm rot="0">
            <a:off x="0" y="9258300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19060813" name="AutoShape 4"/>
          <p:cNvSpPr/>
          <p:nvPr/>
        </p:nvSpPr>
        <p:spPr bwMode="auto">
          <a:xfrm flipV="1">
            <a:off x="579049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05616272" name="Freeform 5"/>
          <p:cNvSpPr/>
          <p:nvPr/>
        </p:nvSpPr>
        <p:spPr bwMode="auto">
          <a:xfrm rot="0" flipH="0" flipV="0">
            <a:off x="6904049" y="1775280"/>
            <a:ext cx="10493090" cy="5874652"/>
          </a:xfrm>
          <a:custGeom>
            <a:avLst/>
            <a:gdLst/>
            <a:ahLst/>
            <a:cxnLst/>
            <a:rect l="l" t="t" r="r" b="b"/>
            <a:pathLst>
              <a:path w="10493090" h="5874652" fill="norm" stroke="1" extrusionOk="0">
                <a:moveTo>
                  <a:pt x="0" y="0"/>
                </a:moveTo>
                <a:lnTo>
                  <a:pt x="10493090" y="0"/>
                </a:lnTo>
                <a:lnTo>
                  <a:pt x="10493090" y="5874652"/>
                </a:lnTo>
                <a:lnTo>
                  <a:pt x="0" y="5874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09452743" name="TextBox 6"/>
          <p:cNvSpPr txBox="1"/>
          <p:nvPr/>
        </p:nvSpPr>
        <p:spPr bwMode="auto">
          <a:xfrm rot="0">
            <a:off x="780894" y="2491551"/>
            <a:ext cx="5572326" cy="30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3" lvl="1" indent="-205106" algn="just">
              <a:lnSpc>
                <a:spcPts val="2660"/>
              </a:lnSpc>
              <a:buFont typeface="Arial"/>
              <a:buChar char="•"/>
              <a:defRPr/>
            </a:pPr>
            <a:r>
              <a:rPr lang="en-US" sz="1900">
                <a:solidFill>
                  <a:srgbClr val="292727"/>
                </a:solidFill>
                <a:latin typeface="Arial"/>
                <a:ea typeface="Arial"/>
                <a:cs typeface="Arial"/>
              </a:rPr>
              <a:t>Analizar los procesos actuales de gestión del Hotel Sabana Brava 314 para identificar los requisitos funcionales.</a:t>
            </a:r>
            <a:endParaRPr>
              <a:latin typeface="Arial"/>
              <a:cs typeface="Arial"/>
            </a:endParaRPr>
          </a:p>
          <a:p>
            <a:pPr marL="410213" lvl="1" indent="-205106" algn="just">
              <a:lnSpc>
                <a:spcPts val="2660"/>
              </a:lnSpc>
              <a:buFont typeface="Arial"/>
              <a:buChar char="•"/>
              <a:defRPr/>
            </a:pPr>
            <a:r>
              <a:rPr lang="en-US" sz="1900">
                <a:solidFill>
                  <a:srgbClr val="292727"/>
                </a:solidFill>
                <a:latin typeface="Arial"/>
                <a:ea typeface="Arial"/>
                <a:cs typeface="Arial"/>
              </a:rPr>
              <a:t>Diseñar el modelo del sistema de información </a:t>
            </a:r>
            <a:r>
              <a:rPr lang="es-CO" sz="1900">
                <a:solidFill>
                  <a:srgbClr val="292727"/>
                </a:solidFill>
                <a:latin typeface="Arial"/>
                <a:ea typeface="Arial"/>
                <a:cs typeface="Arial"/>
              </a:rPr>
              <a:t>mediante </a:t>
            </a:r>
            <a:r>
              <a:rPr lang="en-US" sz="1900">
                <a:solidFill>
                  <a:srgbClr val="292727"/>
                </a:solidFill>
                <a:latin typeface="Arial"/>
                <a:ea typeface="Arial"/>
                <a:cs typeface="Arial"/>
              </a:rPr>
              <a:t>la elaboración de diagramas y la definición de la arquitectura que permita gestionar de la mejor manera los requisitos.</a:t>
            </a:r>
            <a:endParaRPr>
              <a:latin typeface="Arial"/>
              <a:cs typeface="Arial"/>
            </a:endParaRPr>
          </a:p>
          <a:p>
            <a:pPr marL="410213" lvl="1" indent="-205106" algn="just">
              <a:lnSpc>
                <a:spcPts val="266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900">
                <a:solidFill>
                  <a:srgbClr val="292727"/>
                </a:solidFill>
                <a:latin typeface="Arial"/>
                <a:ea typeface="Arial"/>
                <a:cs typeface="Arial"/>
              </a:rPr>
              <a:t>Desarrollar e implementar el sistema de gestión hotelera, con base a la arquitectura y requisitos.</a:t>
            </a:r>
            <a:endParaRPr>
              <a:latin typeface="Arial"/>
              <a:cs typeface="Arial"/>
            </a:endParaRPr>
          </a:p>
        </p:txBody>
      </p:sp>
      <p:sp>
        <p:nvSpPr>
          <p:cNvPr id="1206883270" name="TextBox 7"/>
          <p:cNvSpPr txBox="1"/>
          <p:nvPr/>
        </p:nvSpPr>
        <p:spPr bwMode="auto">
          <a:xfrm rot="0">
            <a:off x="1202936" y="1066799"/>
            <a:ext cx="9291498" cy="90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3"/>
              </a:lnSpc>
              <a:defRPr/>
            </a:pPr>
            <a:r>
              <a:rPr lang="en-US" sz="6400" spc="-166">
                <a:solidFill>
                  <a:srgbClr val="292727"/>
                </a:solidFill>
                <a:latin typeface="Arial"/>
                <a:ea typeface="Arial"/>
                <a:cs typeface="Arial"/>
              </a:rPr>
              <a:t>Objetivos</a:t>
            </a:r>
            <a:endParaRPr>
              <a:latin typeface="Arial"/>
              <a:cs typeface="Arial"/>
            </a:endParaRPr>
          </a:p>
        </p:txBody>
      </p:sp>
      <p:sp>
        <p:nvSpPr>
          <p:cNvPr id="1441121326" name=""/>
          <p:cNvSpPr txBox="1"/>
          <p:nvPr/>
        </p:nvSpPr>
        <p:spPr bwMode="auto">
          <a:xfrm rot="0" flipH="0" flipV="0">
            <a:off x="6904048" y="7779839"/>
            <a:ext cx="6676634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Tomado de: </a:t>
            </a:r>
            <a:r>
              <a:rPr u="sng">
                <a:solidFill>
                  <a:schemeClr val="hlink"/>
                </a:solidFill>
                <a:hlinkClick r:id="rId4" tooltip=""/>
              </a:rPr>
              <a:t>Top 7 Software Development Models: Full Guide | Yellow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174589" name="TextBox 3"/>
          <p:cNvSpPr txBox="1"/>
          <p:nvPr/>
        </p:nvSpPr>
        <p:spPr bwMode="auto">
          <a:xfrm rot="0">
            <a:off x="275648" y="209466"/>
            <a:ext cx="11263601" cy="95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6"/>
              </a:lnSpc>
              <a:defRPr/>
            </a:pPr>
            <a:r>
              <a:rPr lang="en-US" sz="4800" spc="-175">
                <a:solidFill>
                  <a:srgbClr val="292727"/>
                </a:solidFill>
                <a:latin typeface="Cy Grotesk Wide"/>
                <a:ea typeface="Cy Grotesk Wide"/>
                <a:cs typeface="Cy Grotesk Wide"/>
              </a:rPr>
              <a:t>Modelo de negocio</a:t>
            </a:r>
            <a:endParaRPr/>
          </a:p>
        </p:txBody>
      </p:sp>
      <p:sp>
        <p:nvSpPr>
          <p:cNvPr id="213944623" name="TextBox 4"/>
          <p:cNvSpPr txBox="1"/>
          <p:nvPr/>
        </p:nvSpPr>
        <p:spPr bwMode="auto">
          <a:xfrm rot="0">
            <a:off x="275648" y="1100402"/>
            <a:ext cx="5996738" cy="75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9"/>
              </a:lnSpc>
              <a:defRPr/>
            </a:pPr>
            <a:r>
              <a:rPr lang="en-US" sz="2800" b="1">
                <a:solidFill>
                  <a:srgbClr val="292727"/>
                </a:solidFill>
                <a:latin typeface="Open Sans Bold"/>
                <a:ea typeface="Open Sans Bold"/>
                <a:cs typeface="Open Sans Bold"/>
              </a:rPr>
              <a:t>a. Procesos de negocio</a:t>
            </a:r>
            <a:endParaRPr sz="2800"/>
          </a:p>
        </p:txBody>
      </p:sp>
      <p:sp>
        <p:nvSpPr>
          <p:cNvPr id="1062276384" name=""/>
          <p:cNvSpPr txBox="1"/>
          <p:nvPr/>
        </p:nvSpPr>
        <p:spPr bwMode="auto">
          <a:xfrm rot="0" flipH="0" flipV="0">
            <a:off x="330303" y="2361405"/>
            <a:ext cx="5640352" cy="2530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El proceso específico “Registrar reserva” describe el flujo que sigue la Recepcionista para registrar una reserva. Consulta la disponibilidad, valida la empresa, ingresa los datos de la reserva, asigna habitaciones disponibles y confirma el registro. Si no hay disponibilidad o la empresa no es válida, el proceso se interrumpe informando la situación.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1906823081" name="AutoShape 2"/>
          <p:cNvSpPr/>
          <p:nvPr/>
        </p:nvSpPr>
        <p:spPr bwMode="auto">
          <a:xfrm rot="0">
            <a:off x="-170509" y="1217611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05216885" name="AutoShape 2"/>
          <p:cNvSpPr/>
          <p:nvPr/>
        </p:nvSpPr>
        <p:spPr bwMode="auto">
          <a:xfrm rot="0">
            <a:off x="87458" y="9889330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04028086" name="Freeform 5"/>
          <p:cNvSpPr/>
          <p:nvPr/>
        </p:nvSpPr>
        <p:spPr bwMode="auto">
          <a:xfrm rot="0" flipH="0" flipV="0">
            <a:off x="7891998" y="1475867"/>
            <a:ext cx="9453470" cy="8263812"/>
          </a:xfrm>
          <a:custGeom>
            <a:avLst/>
            <a:gdLst/>
            <a:ahLst/>
            <a:cxnLst/>
            <a:rect l="l" t="t" r="r" b="b"/>
            <a:pathLst>
              <a:path w="6165512" h="9658453" fill="norm" stroke="1" extrusionOk="0">
                <a:moveTo>
                  <a:pt x="0" y="0"/>
                </a:moveTo>
                <a:lnTo>
                  <a:pt x="6165512" y="0"/>
                </a:lnTo>
                <a:lnTo>
                  <a:pt x="6165512" y="9658453"/>
                </a:lnTo>
                <a:lnTo>
                  <a:pt x="0" y="96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72" r="0" b="-1272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851642" name="TextBox 3"/>
          <p:cNvSpPr txBox="1"/>
          <p:nvPr/>
        </p:nvSpPr>
        <p:spPr bwMode="auto">
          <a:xfrm rot="0">
            <a:off x="275648" y="209466"/>
            <a:ext cx="11263601" cy="95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6"/>
              </a:lnSpc>
              <a:defRPr/>
            </a:pPr>
            <a:r>
              <a:rPr lang="en-US" sz="4800" spc="-175">
                <a:solidFill>
                  <a:srgbClr val="292727"/>
                </a:solidFill>
                <a:latin typeface="Cy Grotesk Wide"/>
                <a:ea typeface="Cy Grotesk Wide"/>
                <a:cs typeface="Cy Grotesk Wide"/>
              </a:rPr>
              <a:t>Modelo de negocio</a:t>
            </a:r>
            <a:endParaRPr/>
          </a:p>
        </p:txBody>
      </p:sp>
      <p:sp>
        <p:nvSpPr>
          <p:cNvPr id="613026498" name="TextBox 4"/>
          <p:cNvSpPr txBox="1"/>
          <p:nvPr/>
        </p:nvSpPr>
        <p:spPr bwMode="auto">
          <a:xfrm rot="0">
            <a:off x="275648" y="1100402"/>
            <a:ext cx="5996738" cy="75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9"/>
              </a:lnSpc>
              <a:defRPr/>
            </a:pPr>
            <a:r>
              <a:rPr lang="en-US" sz="2800" b="1">
                <a:solidFill>
                  <a:srgbClr val="292727"/>
                </a:solidFill>
                <a:latin typeface="Open Sans Bold"/>
                <a:ea typeface="Open Sans Bold"/>
                <a:cs typeface="Open Sans Bold"/>
              </a:rPr>
              <a:t>a. Procesos de negocio</a:t>
            </a:r>
            <a:endParaRPr sz="2800"/>
          </a:p>
        </p:txBody>
      </p:sp>
      <p:sp>
        <p:nvSpPr>
          <p:cNvPr id="1780051163" name=""/>
          <p:cNvSpPr txBox="1"/>
          <p:nvPr/>
        </p:nvSpPr>
        <p:spPr bwMode="auto">
          <a:xfrm rot="0" flipH="0" flipV="0">
            <a:off x="275648" y="2361405"/>
            <a:ext cx="5654392" cy="28350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El proceso </a:t>
            </a:r>
            <a:r>
              <a:rPr lang="es-CO" sz="2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de negocio</a:t>
            </a:r>
            <a:r>
              <a:rPr sz="2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“Generar factura mensual”</a:t>
            </a:r>
            <a:r>
              <a:rPr lang="es-CO" sz="2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muestra cómo el Administrador genera la factura de una empresa al cierre del periodo mensual. Selecciona la empresa, define el periodo, recopila los registros de ocupación, calcula los valores a facturar y genera la factura. Si los registros están incompletos se revisan fuentes adicionales, y si el cálculo es incorrecto se realiza nuevamente.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1888645582" name="AutoShape 2"/>
          <p:cNvSpPr/>
          <p:nvPr/>
        </p:nvSpPr>
        <p:spPr bwMode="auto">
          <a:xfrm rot="0">
            <a:off x="-170509" y="1217611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4882646" name="AutoShape 2"/>
          <p:cNvSpPr/>
          <p:nvPr/>
        </p:nvSpPr>
        <p:spPr bwMode="auto">
          <a:xfrm rot="0">
            <a:off x="87458" y="9889330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8521853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677133" y="1408906"/>
            <a:ext cx="8874584" cy="84469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316925" name="Freeform 2"/>
          <p:cNvSpPr/>
          <p:nvPr/>
        </p:nvSpPr>
        <p:spPr bwMode="auto">
          <a:xfrm rot="0" flipH="0" flipV="0">
            <a:off x="7412541" y="1851332"/>
            <a:ext cx="9952770" cy="8036718"/>
          </a:xfrm>
          <a:custGeom>
            <a:avLst/>
            <a:gdLst/>
            <a:ahLst/>
            <a:cxnLst/>
            <a:rect l="l" t="t" r="r" b="b"/>
            <a:pathLst>
              <a:path w="7624258" h="9740090" fill="norm" stroke="1" extrusionOk="0">
                <a:moveTo>
                  <a:pt x="0" y="0"/>
                </a:moveTo>
                <a:lnTo>
                  <a:pt x="7624258" y="0"/>
                </a:lnTo>
                <a:lnTo>
                  <a:pt x="7624258" y="9740090"/>
                </a:lnTo>
                <a:lnTo>
                  <a:pt x="0" y="9740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837" b="0"/>
            </a:stretch>
          </a:blipFill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18758845" name="TextBox 3"/>
          <p:cNvSpPr txBox="1"/>
          <p:nvPr/>
        </p:nvSpPr>
        <p:spPr bwMode="auto">
          <a:xfrm rot="0">
            <a:off x="275648" y="209466"/>
            <a:ext cx="11263601" cy="95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7"/>
              </a:lnSpc>
              <a:defRPr/>
            </a:pPr>
            <a:r>
              <a:rPr lang="en-US" sz="4800" spc="-176">
                <a:solidFill>
                  <a:srgbClr val="292727"/>
                </a:solidFill>
                <a:latin typeface="Cy Grotesk Wide"/>
                <a:ea typeface="Cy Grotesk Wide"/>
                <a:cs typeface="Cy Grotesk Wide"/>
              </a:rPr>
              <a:t>Modelo de negocio</a:t>
            </a:r>
            <a:endParaRPr/>
          </a:p>
        </p:txBody>
      </p:sp>
      <p:sp>
        <p:nvSpPr>
          <p:cNvPr id="433648245" name="TextBox 4"/>
          <p:cNvSpPr txBox="1"/>
          <p:nvPr/>
        </p:nvSpPr>
        <p:spPr bwMode="auto">
          <a:xfrm rot="0">
            <a:off x="275648" y="1100402"/>
            <a:ext cx="5996738" cy="75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0"/>
              </a:lnSpc>
              <a:defRPr/>
            </a:pPr>
            <a:r>
              <a:rPr lang="en-US" sz="2800" b="1">
                <a:solidFill>
                  <a:srgbClr val="292727"/>
                </a:solidFill>
                <a:latin typeface="Open Sans Bold"/>
                <a:ea typeface="Open Sans Bold"/>
                <a:cs typeface="Open Sans Bold"/>
              </a:rPr>
              <a:t>a. Procesos de negocio</a:t>
            </a:r>
            <a:endParaRPr sz="2800"/>
          </a:p>
        </p:txBody>
      </p:sp>
      <p:sp>
        <p:nvSpPr>
          <p:cNvPr id="497305625" name=""/>
          <p:cNvSpPr txBox="1"/>
          <p:nvPr/>
        </p:nvSpPr>
        <p:spPr bwMode="auto">
          <a:xfrm rot="0" flipH="0" flipV="0">
            <a:off x="275648" y="2361405"/>
            <a:ext cx="5627032" cy="28350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El proceso específico “Administrar contrato”</a:t>
            </a:r>
            <a:r>
              <a:rPr lang="es-CO" sz="2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representa la negociación y formalización de contratos entre la Dueña y la Empresa-Cliente. La Dueña recibe la solicitud, define las condiciones, verifica si ya existe un contrato vigente y negocia con la empresa. Si las condiciones son aceptadas se registra o actualiza el contrato y se envían las condiciones a la empresa. </a:t>
            </a:r>
            <a:endParaRPr sz="200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823119" name="AutoShape 2"/>
          <p:cNvSpPr/>
          <p:nvPr/>
        </p:nvSpPr>
        <p:spPr bwMode="auto">
          <a:xfrm rot="0">
            <a:off x="-170509" y="1396205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31855401" name="AutoShape 3"/>
          <p:cNvSpPr/>
          <p:nvPr/>
        </p:nvSpPr>
        <p:spPr bwMode="auto">
          <a:xfrm rot="0">
            <a:off x="0" y="9258300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86768350" name="AutoShape 4"/>
          <p:cNvSpPr/>
          <p:nvPr/>
        </p:nvSpPr>
        <p:spPr bwMode="auto">
          <a:xfrm flipV="1">
            <a:off x="579048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61547545" name="TextBox 6"/>
          <p:cNvSpPr txBox="1"/>
          <p:nvPr/>
        </p:nvSpPr>
        <p:spPr bwMode="auto">
          <a:xfrm rot="0">
            <a:off x="780895" y="2491551"/>
            <a:ext cx="5573047" cy="27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2071154559" name="TextBox 7"/>
          <p:cNvSpPr txBox="1"/>
          <p:nvPr/>
        </p:nvSpPr>
        <p:spPr bwMode="auto">
          <a:xfrm rot="0">
            <a:off x="647311" y="394546"/>
            <a:ext cx="9303018" cy="90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2"/>
              </a:lnSpc>
              <a:defRPr/>
            </a:pPr>
            <a:r>
              <a:rPr lang="es-CO" sz="4800" spc="-165">
                <a:solidFill>
                  <a:srgbClr val="292727"/>
                </a:solidFill>
                <a:latin typeface="Arial"/>
                <a:ea typeface="Arial"/>
                <a:cs typeface="Arial"/>
              </a:rPr>
              <a:t>Modelo de negocio</a:t>
            </a:r>
            <a:endParaRPr sz="4800">
              <a:latin typeface="Arial"/>
              <a:cs typeface="Arial"/>
            </a:endParaRPr>
          </a:p>
        </p:txBody>
      </p:sp>
      <p:sp>
        <p:nvSpPr>
          <p:cNvPr id="1782555665" name=""/>
          <p:cNvSpPr txBox="1"/>
          <p:nvPr/>
        </p:nvSpPr>
        <p:spPr bwMode="auto">
          <a:xfrm rot="0" flipH="0" flipV="0">
            <a:off x="647311" y="1448276"/>
            <a:ext cx="5742251" cy="84236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9"/>
              </a:lnSpc>
              <a:defRPr/>
            </a:pPr>
            <a:r>
              <a:rPr lang="es-CO" sz="2800" b="1">
                <a:solidFill>
                  <a:srgbClr val="292727"/>
                </a:solidFill>
                <a:latin typeface="Arial"/>
                <a:ea typeface="Arial"/>
                <a:cs typeface="Arial"/>
              </a:rPr>
              <a:t>b</a:t>
            </a:r>
            <a:r>
              <a:rPr lang="en-US" sz="2800" b="1">
                <a:solidFill>
                  <a:srgbClr val="292727"/>
                </a:solidFill>
                <a:latin typeface="Arial"/>
                <a:ea typeface="Arial"/>
                <a:cs typeface="Arial"/>
              </a:rPr>
              <a:t>. </a:t>
            </a:r>
            <a:r>
              <a:rPr lang="es-CO" sz="2800" b="1">
                <a:solidFill>
                  <a:srgbClr val="292727"/>
                </a:solidFill>
                <a:latin typeface="Arial"/>
                <a:ea typeface="Arial"/>
                <a:cs typeface="Arial"/>
              </a:rPr>
              <a:t>Casos de uso mundo real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104382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493091" y="1607081"/>
            <a:ext cx="6270624" cy="7594068"/>
          </a:xfrm>
          <a:prstGeom prst="rect">
            <a:avLst/>
          </a:prstGeom>
        </p:spPr>
      </p:pic>
      <p:sp>
        <p:nvSpPr>
          <p:cNvPr id="1929725153" name=""/>
          <p:cNvSpPr txBox="1"/>
          <p:nvPr/>
        </p:nvSpPr>
        <p:spPr bwMode="auto">
          <a:xfrm rot="0" flipH="0" flipV="0">
            <a:off x="780895" y="2571749"/>
            <a:ext cx="4375452" cy="1920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El diagrama de casos de uso muestra cómo los actores del sistema hotelero en el contexto real (recepcionista, administrador, dueña y empresa cliente) interactúan con las principales funcionalidades</a:t>
            </a:r>
            <a:endParaRPr sz="2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915905" name="AutoShape 2"/>
          <p:cNvSpPr/>
          <p:nvPr/>
        </p:nvSpPr>
        <p:spPr bwMode="auto">
          <a:xfrm rot="0">
            <a:off x="-170509" y="1396205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56276263" name="AutoShape 3"/>
          <p:cNvSpPr/>
          <p:nvPr/>
        </p:nvSpPr>
        <p:spPr bwMode="auto">
          <a:xfrm rot="0">
            <a:off x="0" y="9258300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5207876" name="AutoShape 4"/>
          <p:cNvSpPr/>
          <p:nvPr/>
        </p:nvSpPr>
        <p:spPr bwMode="auto">
          <a:xfrm flipV="1">
            <a:off x="579048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2673599" name="TextBox 6"/>
          <p:cNvSpPr txBox="1"/>
          <p:nvPr/>
        </p:nvSpPr>
        <p:spPr bwMode="auto">
          <a:xfrm rot="0">
            <a:off x="780895" y="2491551"/>
            <a:ext cx="5573047" cy="27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252509866" name="TextBox 7"/>
          <p:cNvSpPr txBox="1"/>
          <p:nvPr/>
        </p:nvSpPr>
        <p:spPr bwMode="auto">
          <a:xfrm rot="0">
            <a:off x="647311" y="394546"/>
            <a:ext cx="9303018" cy="90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2"/>
              </a:lnSpc>
              <a:defRPr/>
            </a:pPr>
            <a:r>
              <a:rPr lang="es-CO" sz="4800" spc="-165">
                <a:solidFill>
                  <a:srgbClr val="292727"/>
                </a:solidFill>
                <a:latin typeface="Arial"/>
                <a:ea typeface="Arial"/>
                <a:cs typeface="Arial"/>
              </a:rPr>
              <a:t>Modelo de negocio</a:t>
            </a:r>
            <a:endParaRPr sz="4800">
              <a:latin typeface="Arial"/>
              <a:cs typeface="Arial"/>
            </a:endParaRPr>
          </a:p>
        </p:txBody>
      </p:sp>
      <p:sp>
        <p:nvSpPr>
          <p:cNvPr id="1484934892" name=""/>
          <p:cNvSpPr txBox="1"/>
          <p:nvPr/>
        </p:nvSpPr>
        <p:spPr bwMode="auto">
          <a:xfrm rot="0" flipH="0" flipV="0">
            <a:off x="647311" y="1448276"/>
            <a:ext cx="5750171" cy="84236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9"/>
              </a:lnSpc>
              <a:defRPr/>
            </a:pPr>
            <a:r>
              <a:rPr lang="es-CO" sz="2800" b="1">
                <a:solidFill>
                  <a:srgbClr val="292727"/>
                </a:solidFill>
                <a:latin typeface="Arial"/>
                <a:ea typeface="Arial"/>
                <a:cs typeface="Arial"/>
              </a:rPr>
              <a:t>c. Modelo de dominio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02226524" name=""/>
          <p:cNvSpPr txBox="1"/>
          <p:nvPr/>
        </p:nvSpPr>
        <p:spPr bwMode="auto">
          <a:xfrm rot="0" flipH="0" flipV="0">
            <a:off x="780895" y="2571749"/>
            <a:ext cx="4377972" cy="3749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 modelo de dominio captura las reglas de negocio del hotel obtenidas mediante entrevistas, centrándose en la prestación del servicio a empresas. Abarca reservas, habitaciones, contratos y facturación: la recepcionista registra reservas, las empresas operan bajo contrato con tarifas acordadas, y el administrador controla el estado de habitaciones y la facturación mensual.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21255087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919787" y="1752599"/>
            <a:ext cx="11722462" cy="71389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288134" name="AutoShape 2"/>
          <p:cNvSpPr/>
          <p:nvPr/>
        </p:nvSpPr>
        <p:spPr bwMode="auto">
          <a:xfrm rot="0">
            <a:off x="-170509" y="1396205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99472263" name="AutoShape 3"/>
          <p:cNvSpPr/>
          <p:nvPr/>
        </p:nvSpPr>
        <p:spPr bwMode="auto">
          <a:xfrm rot="0">
            <a:off x="0" y="9258300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47043304" name="AutoShape 4"/>
          <p:cNvSpPr/>
          <p:nvPr/>
        </p:nvSpPr>
        <p:spPr bwMode="auto">
          <a:xfrm flipV="1">
            <a:off x="579048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2422332" name="TextBox 6"/>
          <p:cNvSpPr txBox="1"/>
          <p:nvPr/>
        </p:nvSpPr>
        <p:spPr bwMode="auto">
          <a:xfrm rot="0">
            <a:off x="780895" y="2491551"/>
            <a:ext cx="5573047" cy="27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506039025" name="TextBox 7"/>
          <p:cNvSpPr txBox="1"/>
          <p:nvPr/>
        </p:nvSpPr>
        <p:spPr bwMode="auto">
          <a:xfrm rot="0">
            <a:off x="647311" y="394546"/>
            <a:ext cx="9308778" cy="90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2"/>
              </a:lnSpc>
              <a:defRPr/>
            </a:pPr>
            <a:r>
              <a:rPr lang="es-CO" sz="4800" spc="-165">
                <a:solidFill>
                  <a:srgbClr val="292727"/>
                </a:solidFill>
                <a:latin typeface="Arial"/>
                <a:ea typeface="Arial"/>
                <a:cs typeface="Arial"/>
              </a:rPr>
              <a:t>Requisitos</a:t>
            </a:r>
            <a:endParaRPr lang="es-CO" sz="4800" spc="-165">
              <a:solidFill>
                <a:srgbClr val="2927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7503062" name=""/>
          <p:cNvSpPr txBox="1"/>
          <p:nvPr/>
        </p:nvSpPr>
        <p:spPr bwMode="auto">
          <a:xfrm rot="0" flipH="0" flipV="0">
            <a:off x="647311" y="1448276"/>
            <a:ext cx="5759891" cy="84236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9"/>
              </a:lnSpc>
              <a:defRPr/>
            </a:pPr>
            <a:endParaRPr sz="2800">
              <a:latin typeface="Arial"/>
              <a:cs typeface="Arial"/>
            </a:endParaRPr>
          </a:p>
        </p:txBody>
      </p:sp>
      <p:sp>
        <p:nvSpPr>
          <p:cNvPr id="1250309838" name=""/>
          <p:cNvSpPr txBox="1"/>
          <p:nvPr/>
        </p:nvSpPr>
        <p:spPr bwMode="auto">
          <a:xfrm rot="0" flipH="0" flipV="0">
            <a:off x="780895" y="1752599"/>
            <a:ext cx="6213482" cy="3993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Gestión de Reservas</a:t>
            </a:r>
            <a:endParaRPr sz="1600">
              <a:solidFill>
                <a:schemeClr val="tx1"/>
              </a:solidFill>
            </a:endParaRPr>
          </a:p>
          <a:p>
            <a:pPr>
              <a:defRPr/>
            </a:pP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RF-01: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Registrar Reserva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- </a:t>
            </a: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Prioridad: 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Alta</a:t>
            </a:r>
            <a:endParaRPr sz="1600">
              <a:solidFill>
                <a:schemeClr val="tx1"/>
              </a:solidFill>
            </a:endParaRPr>
          </a:p>
          <a:p>
            <a:pPr>
              <a:defRPr/>
            </a:pP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RF-02: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Consultar Disponibilidad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- </a:t>
            </a: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Prioridad: 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Alta</a:t>
            </a:r>
            <a:endParaRPr sz="1600">
              <a:solidFill>
                <a:schemeClr val="tx1"/>
              </a:solidFill>
            </a:endParaRPr>
          </a:p>
          <a:p>
            <a:pPr>
              <a:defRPr/>
            </a:pP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RF-03: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Asignar Habitación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- </a:t>
            </a: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Prioridad: 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Alta</a:t>
            </a:r>
            <a:b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sz="1600">
              <a:solidFill>
                <a:schemeClr val="tx1"/>
              </a:solidFill>
            </a:endParaRPr>
          </a:p>
          <a:p>
            <a:pPr>
              <a:defRPr/>
            </a:pP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Gestión de Habitaciones</a:t>
            </a:r>
            <a:endParaRPr sz="1600">
              <a:solidFill>
                <a:schemeClr val="tx1"/>
              </a:solidFill>
            </a:endParaRPr>
          </a:p>
          <a:p>
            <a:pPr>
              <a:defRPr/>
            </a:pP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RF-04: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Registrar Habitación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- </a:t>
            </a: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Prioridad: 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Media</a:t>
            </a:r>
            <a:endParaRPr sz="1600">
              <a:solidFill>
                <a:schemeClr val="tx1"/>
              </a:solidFill>
            </a:endParaRPr>
          </a:p>
          <a:p>
            <a:pPr>
              <a:defRPr/>
            </a:pP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RF-05: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Gestionar estados de las habitaciones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- </a:t>
            </a: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Prioridad: 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Alta</a:t>
            </a:r>
            <a:endParaRPr sz="1600">
              <a:solidFill>
                <a:schemeClr val="tx1"/>
              </a:solidFill>
            </a:endParaRPr>
          </a:p>
          <a:p>
            <a:pPr>
              <a:defRPr/>
            </a:pPr>
            <a:endParaRPr sz="1600">
              <a:solidFill>
                <a:schemeClr val="tx1"/>
              </a:solidFill>
            </a:endParaRPr>
          </a:p>
          <a:p>
            <a:pPr>
              <a:defRPr/>
            </a:pP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Gestión de Empresas y Contratos</a:t>
            </a:r>
            <a:endParaRPr sz="1600">
              <a:solidFill>
                <a:schemeClr val="tx1"/>
              </a:solidFill>
            </a:endParaRPr>
          </a:p>
          <a:p>
            <a:pPr>
              <a:defRPr/>
            </a:pP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RF-06: Gestionar Contratos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- </a:t>
            </a: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Prioridad: 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Media</a:t>
            </a:r>
            <a:endParaRPr sz="1600">
              <a:solidFill>
                <a:schemeClr val="tx1"/>
              </a:solidFill>
            </a:endParaRPr>
          </a:p>
          <a:p>
            <a:pPr>
              <a:defRPr/>
            </a:pP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RF-07: Registrar Empresa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- </a:t>
            </a: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Prioridad: 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Media</a:t>
            </a:r>
            <a:endParaRPr sz="1600">
              <a:solidFill>
                <a:schemeClr val="tx1"/>
              </a:solidFill>
            </a:endParaRPr>
          </a:p>
          <a:p>
            <a:pPr>
              <a:defRPr/>
            </a:pP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Facturación</a:t>
            </a:r>
            <a:endParaRPr sz="1600">
              <a:solidFill>
                <a:schemeClr val="tx1"/>
              </a:solidFill>
            </a:endParaRPr>
          </a:p>
          <a:p>
            <a:pPr>
              <a:defRPr/>
            </a:pPr>
            <a:endParaRPr sz="1600">
              <a:solidFill>
                <a:schemeClr val="tx1"/>
              </a:solidFill>
            </a:endParaRPr>
          </a:p>
          <a:p>
            <a:pPr>
              <a:defRPr/>
            </a:pP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RF-08: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Generar Factura 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Electrónica - </a:t>
            </a: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Prioridad: 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Alta</a:t>
            </a:r>
            <a:endParaRPr sz="160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RF-09: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Consultar Facturación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- </a:t>
            </a: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Prioridad: </a:t>
            </a:r>
            <a:r>
              <a:rPr sz="16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Media</a:t>
            </a:r>
            <a:endParaRPr sz="160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6551062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577137" y="1627568"/>
            <a:ext cx="5474062" cy="74973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879234" name="AutoShape 2"/>
          <p:cNvSpPr/>
          <p:nvPr/>
        </p:nvSpPr>
        <p:spPr bwMode="auto">
          <a:xfrm rot="0">
            <a:off x="-170508" y="1396204"/>
            <a:ext cx="18458508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9861664" name="AutoShape 3"/>
          <p:cNvSpPr/>
          <p:nvPr/>
        </p:nvSpPr>
        <p:spPr bwMode="auto">
          <a:xfrm rot="0">
            <a:off x="0" y="9258300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4772991" name="AutoShape 4"/>
          <p:cNvSpPr/>
          <p:nvPr/>
        </p:nvSpPr>
        <p:spPr bwMode="auto">
          <a:xfrm flipV="1">
            <a:off x="579047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0529213" name="TextBox 6"/>
          <p:cNvSpPr txBox="1"/>
          <p:nvPr/>
        </p:nvSpPr>
        <p:spPr bwMode="auto">
          <a:xfrm rot="0">
            <a:off x="780894" y="2491551"/>
            <a:ext cx="5573046" cy="274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570061556" name="TextBox 7"/>
          <p:cNvSpPr txBox="1"/>
          <p:nvPr/>
        </p:nvSpPr>
        <p:spPr bwMode="auto">
          <a:xfrm rot="0" flipH="0" flipV="0">
            <a:off x="647310" y="394545"/>
            <a:ext cx="14669178" cy="90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indent="0" algn="l">
              <a:lnSpc>
                <a:spcPts val="710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s-CO" sz="4800" b="0" i="0" u="none" strike="noStrike" cap="none" spc="-164">
                <a:solidFill>
                  <a:srgbClr val="292727"/>
                </a:solidFill>
                <a:latin typeface="Arial"/>
                <a:ea typeface="Arial"/>
                <a:cs typeface="Arial"/>
              </a:rPr>
              <a:t>Módulo de Facturación Electrónica DIAN</a:t>
            </a:r>
            <a:endParaRPr lang="es-CO" sz="4800" spc="-164">
              <a:solidFill>
                <a:srgbClr val="2927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4207631" name=""/>
          <p:cNvSpPr txBox="1"/>
          <p:nvPr/>
        </p:nvSpPr>
        <p:spPr bwMode="auto">
          <a:xfrm rot="0" flipH="0" flipV="0">
            <a:off x="647310" y="1448275"/>
            <a:ext cx="5759890" cy="84236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8"/>
              </a:lnSpc>
              <a:defRPr/>
            </a:pPr>
            <a:endParaRPr sz="2800">
              <a:latin typeface="Arial"/>
              <a:cs typeface="Arial"/>
            </a:endParaRPr>
          </a:p>
        </p:txBody>
      </p:sp>
      <p:sp>
        <p:nvSpPr>
          <p:cNvPr id="1821001060" name=""/>
          <p:cNvSpPr txBox="1"/>
          <p:nvPr/>
        </p:nvSpPr>
        <p:spPr bwMode="auto">
          <a:xfrm rot="0" flipH="0" flipV="0">
            <a:off x="647310" y="4486783"/>
            <a:ext cx="3473380" cy="1615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CO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Flujo de facturación basado en la arquitectura</a:t>
            </a:r>
            <a:r>
              <a:rPr lang="es-CO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s-CO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 un proveedor tecnológico autorizado</a:t>
            </a:r>
            <a:r>
              <a:rPr sz="2000"/>
              <a:t> </a:t>
            </a:r>
            <a:r>
              <a:rPr lang="es-CO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(Factus) y validación DIAN.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6123238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447499" y="2859453"/>
            <a:ext cx="12675576" cy="60381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879559" name="AutoShape 2"/>
          <p:cNvSpPr/>
          <p:nvPr/>
        </p:nvSpPr>
        <p:spPr bwMode="auto">
          <a:xfrm rot="0">
            <a:off x="-170508" y="1396204"/>
            <a:ext cx="18458508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052656" name="AutoShape 3"/>
          <p:cNvSpPr/>
          <p:nvPr/>
        </p:nvSpPr>
        <p:spPr bwMode="auto">
          <a:xfrm rot="0">
            <a:off x="0" y="9258300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58474108" name="AutoShape 4"/>
          <p:cNvSpPr/>
          <p:nvPr/>
        </p:nvSpPr>
        <p:spPr bwMode="auto">
          <a:xfrm flipV="1">
            <a:off x="579047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52873805" name="TextBox 6"/>
          <p:cNvSpPr txBox="1"/>
          <p:nvPr/>
        </p:nvSpPr>
        <p:spPr bwMode="auto">
          <a:xfrm rot="0">
            <a:off x="780894" y="2491551"/>
            <a:ext cx="5573046" cy="274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013796763" name="TextBox 7"/>
          <p:cNvSpPr txBox="1"/>
          <p:nvPr/>
        </p:nvSpPr>
        <p:spPr bwMode="auto">
          <a:xfrm rot="0" flipH="0" flipV="0">
            <a:off x="647310" y="394545"/>
            <a:ext cx="14671338" cy="90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indent="0" algn="l">
              <a:lnSpc>
                <a:spcPts val="710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s-CO" sz="4800" b="0" i="0" u="none" strike="noStrike" cap="none" spc="-164">
                <a:solidFill>
                  <a:srgbClr val="292727"/>
                </a:solidFill>
                <a:latin typeface="Arial"/>
                <a:ea typeface="Arial"/>
                <a:cs typeface="Arial"/>
              </a:rPr>
              <a:t>Implementación en Sabana Brava 314</a:t>
            </a:r>
            <a:endParaRPr lang="es-CO" sz="4800" spc="-164">
              <a:solidFill>
                <a:srgbClr val="2927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4731301" name=""/>
          <p:cNvSpPr txBox="1"/>
          <p:nvPr/>
        </p:nvSpPr>
        <p:spPr bwMode="auto">
          <a:xfrm rot="0" flipH="0" flipV="0">
            <a:off x="647310" y="1448275"/>
            <a:ext cx="5759890" cy="84236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8"/>
              </a:lnSpc>
              <a:defRPr/>
            </a:pPr>
            <a:endParaRPr sz="2800">
              <a:latin typeface="Arial"/>
              <a:cs typeface="Arial"/>
            </a:endParaRPr>
          </a:p>
        </p:txBody>
      </p:sp>
      <p:sp>
        <p:nvSpPr>
          <p:cNvPr id="980839752" name=""/>
          <p:cNvSpPr txBox="1"/>
          <p:nvPr/>
        </p:nvSpPr>
        <p:spPr bwMode="auto">
          <a:xfrm rot="0" flipH="0" flipV="0">
            <a:off x="3296471" y="9444668"/>
            <a:ext cx="1067746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Simulación académica del flujo de integración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 proveedor tecnológico autorizado.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75505633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33160" y="1752401"/>
            <a:ext cx="2631238" cy="7249784"/>
          </a:xfrm>
          <a:prstGeom prst="rect">
            <a:avLst/>
          </a:prstGeom>
        </p:spPr>
      </p:pic>
      <p:sp>
        <p:nvSpPr>
          <p:cNvPr id="345807318" name=""/>
          <p:cNvSpPr txBox="1"/>
          <p:nvPr/>
        </p:nvSpPr>
        <p:spPr bwMode="auto">
          <a:xfrm rot="0" flipH="0" flipV="0">
            <a:off x="579047" y="1386281"/>
            <a:ext cx="5720608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TABLA DE FACTURAS (PERSISTENCIA EN LA BASE DE DATOS</a:t>
            </a:r>
            <a:r>
              <a:rPr/>
              <a:t>)</a:t>
            </a:r>
            <a:endParaRPr/>
          </a:p>
        </p:txBody>
      </p:sp>
      <p:pic>
        <p:nvPicPr>
          <p:cNvPr id="83246670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1800000" cy="1800000"/>
          </a:xfrm>
          <a:prstGeom prst="rect">
            <a:avLst/>
          </a:prstGeom>
        </p:spPr>
      </p:pic>
      <p:pic>
        <p:nvPicPr>
          <p:cNvPr id="101520076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52399" y="152399"/>
            <a:ext cx="1800000" cy="1800000"/>
          </a:xfrm>
          <a:prstGeom prst="rect">
            <a:avLst/>
          </a:prstGeom>
        </p:spPr>
      </p:pic>
      <p:pic>
        <p:nvPicPr>
          <p:cNvPr id="57791215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04799" y="304799"/>
            <a:ext cx="1800000" cy="1800000"/>
          </a:xfrm>
          <a:prstGeom prst="rect">
            <a:avLst/>
          </a:prstGeom>
        </p:spPr>
      </p:pic>
      <p:pic>
        <p:nvPicPr>
          <p:cNvPr id="103845179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791199" y="1996436"/>
            <a:ext cx="10508624" cy="7005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979979" name="AutoShape 2"/>
          <p:cNvSpPr/>
          <p:nvPr/>
        </p:nvSpPr>
        <p:spPr bwMode="auto">
          <a:xfrm rot="0">
            <a:off x="-170509" y="967581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39125750" name="AutoShape 3"/>
          <p:cNvSpPr/>
          <p:nvPr/>
        </p:nvSpPr>
        <p:spPr bwMode="auto">
          <a:xfrm rot="0">
            <a:off x="0" y="10039349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1687274" name="AutoShape 4"/>
          <p:cNvSpPr/>
          <p:nvPr/>
        </p:nvSpPr>
        <p:spPr bwMode="auto">
          <a:xfrm flipV="1">
            <a:off x="579048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1161898" name="TextBox 6"/>
          <p:cNvSpPr txBox="1"/>
          <p:nvPr/>
        </p:nvSpPr>
        <p:spPr bwMode="auto">
          <a:xfrm rot="0">
            <a:off x="780895" y="2491551"/>
            <a:ext cx="5573047" cy="27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538269144" name="TextBox 7"/>
          <p:cNvSpPr txBox="1"/>
          <p:nvPr/>
        </p:nvSpPr>
        <p:spPr bwMode="auto">
          <a:xfrm rot="0">
            <a:off x="647311" y="140546"/>
            <a:ext cx="9318138" cy="90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2"/>
              </a:lnSpc>
              <a:defRPr/>
            </a:pPr>
            <a:r>
              <a:rPr lang="es-CO" sz="4800" spc="-165">
                <a:solidFill>
                  <a:srgbClr val="292727"/>
                </a:solidFill>
                <a:latin typeface="Arial"/>
                <a:ea typeface="Arial"/>
                <a:cs typeface="Arial"/>
              </a:rPr>
              <a:t>Modelo de diseño</a:t>
            </a:r>
            <a:endParaRPr lang="es-CO" sz="4800" spc="-165">
              <a:solidFill>
                <a:srgbClr val="2927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7407653" name=""/>
          <p:cNvSpPr txBox="1"/>
          <p:nvPr/>
        </p:nvSpPr>
        <p:spPr bwMode="auto">
          <a:xfrm rot="0" flipH="0" flipV="0">
            <a:off x="579048" y="1027090"/>
            <a:ext cx="5771411" cy="84236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3" indent="-394023" algn="l">
              <a:lnSpc>
                <a:spcPts val="5909"/>
              </a:lnSpc>
              <a:buAutoNum type="alphaLcPeriod"/>
              <a:defRPr/>
            </a:pPr>
            <a:r>
              <a:rPr sz="2800">
                <a:latin typeface="Arial"/>
                <a:cs typeface="Arial"/>
              </a:rPr>
              <a:t>Vista de escenarios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58011825" name=""/>
          <p:cNvSpPr txBox="1"/>
          <p:nvPr/>
        </p:nvSpPr>
        <p:spPr bwMode="auto">
          <a:xfrm rot="0" flipH="0" flipV="0">
            <a:off x="647311" y="2035980"/>
            <a:ext cx="5038282" cy="2225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 diagrama de casos de uso  presenta una visión más detallada del comportamiento del sistema y la interacción de los actores Recepcionista, Propietaria y Administrador con este, donde cada uno cuenta con responsabilidades claramente delimitadas.</a:t>
            </a:r>
            <a:endParaRPr sz="2000"/>
          </a:p>
        </p:txBody>
      </p:sp>
      <p:pic>
        <p:nvPicPr>
          <p:cNvPr id="68803422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097749" y="1017406"/>
            <a:ext cx="6095999" cy="8932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007309" name="AutoShape 2"/>
          <p:cNvSpPr/>
          <p:nvPr/>
        </p:nvSpPr>
        <p:spPr bwMode="auto">
          <a:xfrm rot="0">
            <a:off x="-170509" y="967581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9157720" name="AutoShape 3"/>
          <p:cNvSpPr/>
          <p:nvPr/>
        </p:nvSpPr>
        <p:spPr bwMode="auto">
          <a:xfrm rot="0">
            <a:off x="0" y="10039349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8718370" name="AutoShape 4"/>
          <p:cNvSpPr/>
          <p:nvPr/>
        </p:nvSpPr>
        <p:spPr bwMode="auto">
          <a:xfrm flipV="1">
            <a:off x="579048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8275649" name="TextBox 6"/>
          <p:cNvSpPr txBox="1"/>
          <p:nvPr/>
        </p:nvSpPr>
        <p:spPr bwMode="auto">
          <a:xfrm rot="0">
            <a:off x="780895" y="2491551"/>
            <a:ext cx="5573047" cy="27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32888845" name="TextBox 7"/>
          <p:cNvSpPr txBox="1"/>
          <p:nvPr/>
        </p:nvSpPr>
        <p:spPr bwMode="auto">
          <a:xfrm rot="0">
            <a:off x="647311" y="140546"/>
            <a:ext cx="9318138" cy="90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2"/>
              </a:lnSpc>
              <a:defRPr/>
            </a:pPr>
            <a:r>
              <a:rPr lang="es-CO" sz="4800" spc="-165">
                <a:solidFill>
                  <a:srgbClr val="292727"/>
                </a:solidFill>
                <a:latin typeface="Arial"/>
                <a:ea typeface="Arial"/>
                <a:cs typeface="Arial"/>
              </a:rPr>
              <a:t>Modelo de diseño</a:t>
            </a:r>
            <a:endParaRPr lang="es-CO" sz="4800" spc="-165">
              <a:solidFill>
                <a:srgbClr val="2927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6979997" name=""/>
          <p:cNvSpPr txBox="1"/>
          <p:nvPr/>
        </p:nvSpPr>
        <p:spPr bwMode="auto">
          <a:xfrm rot="0" flipH="0" flipV="0">
            <a:off x="579048" y="1027090"/>
            <a:ext cx="5783650" cy="84236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9"/>
              </a:lnSpc>
              <a:defRPr/>
            </a:pPr>
            <a:r>
              <a:rPr sz="2800">
                <a:latin typeface="Arial"/>
                <a:cs typeface="Arial"/>
              </a:rPr>
              <a:t>b. Vista logica</a:t>
            </a:r>
            <a:endParaRPr sz="2800">
              <a:latin typeface="Arial"/>
              <a:cs typeface="Arial"/>
            </a:endParaRPr>
          </a:p>
        </p:txBody>
      </p:sp>
      <p:sp>
        <p:nvSpPr>
          <p:cNvPr id="990567078" name=""/>
          <p:cNvSpPr txBox="1"/>
          <p:nvPr/>
        </p:nvSpPr>
        <p:spPr bwMode="auto">
          <a:xfrm rot="0" flipH="0" flipV="0">
            <a:off x="647311" y="2035980"/>
            <a:ext cx="5039002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endParaRPr sz="2000"/>
          </a:p>
        </p:txBody>
      </p:sp>
      <p:pic>
        <p:nvPicPr>
          <p:cNvPr id="15828388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15349" y="2035980"/>
            <a:ext cx="17403149" cy="6984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393506" name="AutoShape 2"/>
          <p:cNvSpPr/>
          <p:nvPr/>
        </p:nvSpPr>
        <p:spPr bwMode="auto">
          <a:xfrm rot="0">
            <a:off x="-170509" y="967581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24730505" name="AutoShape 4"/>
          <p:cNvSpPr/>
          <p:nvPr/>
        </p:nvSpPr>
        <p:spPr bwMode="auto">
          <a:xfrm flipV="1">
            <a:off x="579048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35863576" name="TextBox 6"/>
          <p:cNvSpPr txBox="1"/>
          <p:nvPr/>
        </p:nvSpPr>
        <p:spPr bwMode="auto">
          <a:xfrm rot="0">
            <a:off x="780895" y="2491551"/>
            <a:ext cx="5573047" cy="27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757918100" name="TextBox 7"/>
          <p:cNvSpPr txBox="1"/>
          <p:nvPr/>
        </p:nvSpPr>
        <p:spPr bwMode="auto">
          <a:xfrm rot="0">
            <a:off x="647311" y="140546"/>
            <a:ext cx="9318138" cy="90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2"/>
              </a:lnSpc>
              <a:defRPr/>
            </a:pPr>
            <a:r>
              <a:rPr lang="es-CO" sz="4800" spc="-165">
                <a:solidFill>
                  <a:srgbClr val="292727"/>
                </a:solidFill>
                <a:latin typeface="Arial"/>
                <a:ea typeface="Arial"/>
                <a:cs typeface="Arial"/>
              </a:rPr>
              <a:t>Modelo de diseño</a:t>
            </a:r>
            <a:endParaRPr lang="es-CO" sz="4800" spc="-165">
              <a:solidFill>
                <a:srgbClr val="2927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5087856" name=""/>
          <p:cNvSpPr txBox="1"/>
          <p:nvPr/>
        </p:nvSpPr>
        <p:spPr bwMode="auto">
          <a:xfrm rot="0" flipH="0" flipV="0">
            <a:off x="547972" y="798491"/>
            <a:ext cx="5805971" cy="84236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9"/>
              </a:lnSpc>
              <a:defRPr/>
            </a:pPr>
            <a:r>
              <a:rPr sz="2800">
                <a:latin typeface="Arial"/>
                <a:cs typeface="Arial"/>
              </a:rPr>
              <a:t>c. Vista logica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09470478" name=""/>
          <p:cNvSpPr txBox="1"/>
          <p:nvPr/>
        </p:nvSpPr>
        <p:spPr bwMode="auto">
          <a:xfrm rot="0" flipH="0" flipV="0">
            <a:off x="647311" y="2035980"/>
            <a:ext cx="5039002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endParaRPr sz="2000"/>
          </a:p>
        </p:txBody>
      </p:sp>
      <p:pic>
        <p:nvPicPr>
          <p:cNvPr id="116697835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40150" y="1654970"/>
            <a:ext cx="15887699" cy="8384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300234" name="AutoShape 2"/>
          <p:cNvSpPr/>
          <p:nvPr/>
        </p:nvSpPr>
        <p:spPr bwMode="auto">
          <a:xfrm rot="0">
            <a:off x="-170509" y="967581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14960677" name="AutoShape 4"/>
          <p:cNvSpPr/>
          <p:nvPr/>
        </p:nvSpPr>
        <p:spPr bwMode="auto">
          <a:xfrm flipV="1">
            <a:off x="579048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9958993" name="TextBox 6"/>
          <p:cNvSpPr txBox="1"/>
          <p:nvPr/>
        </p:nvSpPr>
        <p:spPr bwMode="auto">
          <a:xfrm rot="0">
            <a:off x="780895" y="2491551"/>
            <a:ext cx="5573047" cy="27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419215948" name="TextBox 7"/>
          <p:cNvSpPr txBox="1"/>
          <p:nvPr/>
        </p:nvSpPr>
        <p:spPr bwMode="auto">
          <a:xfrm rot="0">
            <a:off x="647311" y="140546"/>
            <a:ext cx="9318138" cy="90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2"/>
              </a:lnSpc>
              <a:defRPr/>
            </a:pPr>
            <a:r>
              <a:rPr lang="es-CO" sz="4800" spc="-165">
                <a:solidFill>
                  <a:srgbClr val="292727"/>
                </a:solidFill>
                <a:latin typeface="Arial"/>
                <a:ea typeface="Arial"/>
                <a:cs typeface="Arial"/>
              </a:rPr>
              <a:t>Modelo de diseño</a:t>
            </a:r>
            <a:endParaRPr lang="es-CO" sz="4800" spc="-165">
              <a:solidFill>
                <a:srgbClr val="2927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9771937" name=""/>
          <p:cNvSpPr txBox="1"/>
          <p:nvPr/>
        </p:nvSpPr>
        <p:spPr bwMode="auto">
          <a:xfrm rot="0" flipH="0" flipV="0">
            <a:off x="547972" y="798491"/>
            <a:ext cx="5812091" cy="84236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9"/>
              </a:lnSpc>
              <a:defRPr/>
            </a:pPr>
            <a:r>
              <a:rPr sz="2800">
                <a:latin typeface="Arial"/>
                <a:cs typeface="Arial"/>
              </a:rPr>
              <a:t>c. Vista de procesos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00284422" name=""/>
          <p:cNvSpPr txBox="1"/>
          <p:nvPr/>
        </p:nvSpPr>
        <p:spPr bwMode="auto">
          <a:xfrm rot="0" flipH="0" flipV="0">
            <a:off x="647310" y="1805929"/>
            <a:ext cx="4354989" cy="1920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es-MX" sz="2000">
                <a:latin typeface="Arial"/>
                <a:ea typeface="Arial"/>
                <a:cs typeface="Arial"/>
              </a:rPr>
              <a:t>Se dividira el diagrama de secuencia perteneciente a Registrar reserva en varias partes para poder visualizar de la mejor manera su comportamiento.</a:t>
            </a:r>
            <a:endParaRPr lang="es-MX" sz="2000">
              <a:latin typeface="Arial"/>
              <a:ea typeface="Arial"/>
              <a:cs typeface="Arial"/>
            </a:endParaRPr>
          </a:p>
          <a:p>
            <a:pPr algn="just">
              <a:defRPr/>
            </a:pPr>
            <a:endParaRPr sz="2000"/>
          </a:p>
        </p:txBody>
      </p:sp>
      <p:pic>
        <p:nvPicPr>
          <p:cNvPr id="133181078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553868" y="1042985"/>
            <a:ext cx="10983177" cy="8859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958695" name="AutoShape 2"/>
          <p:cNvSpPr/>
          <p:nvPr/>
        </p:nvSpPr>
        <p:spPr bwMode="auto">
          <a:xfrm rot="0">
            <a:off x="-170508" y="967581"/>
            <a:ext cx="18458507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74578524" name="AutoShape 4"/>
          <p:cNvSpPr/>
          <p:nvPr/>
        </p:nvSpPr>
        <p:spPr bwMode="auto">
          <a:xfrm flipV="1">
            <a:off x="579047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4387831" name="TextBox 6"/>
          <p:cNvSpPr txBox="1"/>
          <p:nvPr/>
        </p:nvSpPr>
        <p:spPr bwMode="auto">
          <a:xfrm rot="0">
            <a:off x="780894" y="2491551"/>
            <a:ext cx="5573046" cy="274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338146149" name="TextBox 7"/>
          <p:cNvSpPr txBox="1"/>
          <p:nvPr/>
        </p:nvSpPr>
        <p:spPr bwMode="auto">
          <a:xfrm rot="0">
            <a:off x="647310" y="140545"/>
            <a:ext cx="9318137" cy="90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1"/>
              </a:lnSpc>
              <a:defRPr/>
            </a:pPr>
            <a:r>
              <a:rPr lang="es-CO" sz="4800" spc="-164">
                <a:solidFill>
                  <a:srgbClr val="292727"/>
                </a:solidFill>
                <a:latin typeface="Arial"/>
                <a:ea typeface="Arial"/>
                <a:cs typeface="Arial"/>
              </a:rPr>
              <a:t>Modelo de diseño</a:t>
            </a:r>
            <a:endParaRPr lang="es-CO" sz="4800" spc="-164">
              <a:solidFill>
                <a:srgbClr val="2927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8607875" name=""/>
          <p:cNvSpPr txBox="1"/>
          <p:nvPr/>
        </p:nvSpPr>
        <p:spPr bwMode="auto">
          <a:xfrm rot="0" flipH="0" flipV="0">
            <a:off x="547971" y="798490"/>
            <a:ext cx="5812090" cy="84236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7"/>
              </a:lnSpc>
              <a:defRPr/>
            </a:pPr>
            <a:r>
              <a:rPr sz="2800">
                <a:latin typeface="Arial"/>
                <a:cs typeface="Arial"/>
              </a:rPr>
              <a:t>c. Vista de procesos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50562244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177018" y="1219675"/>
            <a:ext cx="13758161" cy="8517434"/>
          </a:xfrm>
          <a:prstGeom prst="rect">
            <a:avLst/>
          </a:prstGeom>
        </p:spPr>
      </p:pic>
      <p:sp>
        <p:nvSpPr>
          <p:cNvPr id="970579187" name=""/>
          <p:cNvSpPr txBox="1"/>
          <p:nvPr/>
        </p:nvSpPr>
        <p:spPr bwMode="auto">
          <a:xfrm rot="0" flipH="0" flipV="0">
            <a:off x="579047" y="1695449"/>
            <a:ext cx="3886920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s-MX" sz="2000">
                <a:latin typeface="Arial"/>
                <a:ea typeface="Arial"/>
                <a:cs typeface="Arial"/>
              </a:rPr>
              <a:t>Segunda parte diagrama de secuencia perteneciente a Registrar reserva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599552" name="AutoShape 2"/>
          <p:cNvSpPr/>
          <p:nvPr/>
        </p:nvSpPr>
        <p:spPr bwMode="auto">
          <a:xfrm rot="0">
            <a:off x="-170508" y="967581"/>
            <a:ext cx="18458507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92897816" name="AutoShape 4"/>
          <p:cNvSpPr/>
          <p:nvPr/>
        </p:nvSpPr>
        <p:spPr bwMode="auto">
          <a:xfrm flipV="1">
            <a:off x="579047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87525295" name="TextBox 6"/>
          <p:cNvSpPr txBox="1"/>
          <p:nvPr/>
        </p:nvSpPr>
        <p:spPr bwMode="auto">
          <a:xfrm rot="0">
            <a:off x="780894" y="2491551"/>
            <a:ext cx="5573046" cy="274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94420088" name="TextBox 7"/>
          <p:cNvSpPr txBox="1"/>
          <p:nvPr/>
        </p:nvSpPr>
        <p:spPr bwMode="auto">
          <a:xfrm rot="0">
            <a:off x="647310" y="140545"/>
            <a:ext cx="9318137" cy="90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1"/>
              </a:lnSpc>
              <a:defRPr/>
            </a:pPr>
            <a:r>
              <a:rPr lang="es-CO" sz="4800" spc="-164">
                <a:solidFill>
                  <a:srgbClr val="292727"/>
                </a:solidFill>
                <a:latin typeface="Arial"/>
                <a:ea typeface="Arial"/>
                <a:cs typeface="Arial"/>
              </a:rPr>
              <a:t>Modelo de diseño</a:t>
            </a:r>
            <a:endParaRPr lang="es-CO" sz="4800" spc="-164">
              <a:solidFill>
                <a:srgbClr val="2927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7789067" name=""/>
          <p:cNvSpPr txBox="1"/>
          <p:nvPr/>
        </p:nvSpPr>
        <p:spPr bwMode="auto">
          <a:xfrm rot="0" flipH="0" flipV="0">
            <a:off x="547971" y="798490"/>
            <a:ext cx="5812090" cy="84236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7"/>
              </a:lnSpc>
              <a:defRPr/>
            </a:pPr>
            <a:r>
              <a:rPr sz="2800">
                <a:latin typeface="Arial"/>
                <a:cs typeface="Arial"/>
              </a:rPr>
              <a:t>c. Vista de procesos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23569894" name=""/>
          <p:cNvSpPr txBox="1"/>
          <p:nvPr/>
        </p:nvSpPr>
        <p:spPr bwMode="auto">
          <a:xfrm rot="0" flipH="0" flipV="0">
            <a:off x="579047" y="1532880"/>
            <a:ext cx="4367589" cy="1920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es-MX" sz="2000">
                <a:latin typeface="Arial"/>
                <a:ea typeface="Arial"/>
                <a:cs typeface="Arial"/>
              </a:rPr>
              <a:t>Se dividira el diagrama de secuencia perteneciente a Crear contraro en varias partes para poder visualizar de la mejor manera su comportamiento.</a:t>
            </a:r>
            <a:endParaRPr lang="es-MX" sz="2000">
              <a:latin typeface="Arial"/>
              <a:ea typeface="Arial"/>
              <a:cs typeface="Arial"/>
            </a:endParaRPr>
          </a:p>
          <a:p>
            <a:pPr algn="just">
              <a:defRPr/>
            </a:pPr>
            <a:endParaRPr sz="2000"/>
          </a:p>
        </p:txBody>
      </p:sp>
      <p:pic>
        <p:nvPicPr>
          <p:cNvPr id="191776396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007970" y="1640859"/>
            <a:ext cx="12805729" cy="7807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029603" name="AutoShape 2"/>
          <p:cNvSpPr/>
          <p:nvPr/>
        </p:nvSpPr>
        <p:spPr bwMode="auto">
          <a:xfrm rot="0">
            <a:off x="-170508" y="967581"/>
            <a:ext cx="18458507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62782979" name="AutoShape 4"/>
          <p:cNvSpPr/>
          <p:nvPr/>
        </p:nvSpPr>
        <p:spPr bwMode="auto">
          <a:xfrm flipV="1">
            <a:off x="579047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2218331" name="TextBox 6"/>
          <p:cNvSpPr txBox="1"/>
          <p:nvPr/>
        </p:nvSpPr>
        <p:spPr bwMode="auto">
          <a:xfrm rot="0">
            <a:off x="780894" y="2491551"/>
            <a:ext cx="5573046" cy="274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851401107" name="TextBox 7"/>
          <p:cNvSpPr txBox="1"/>
          <p:nvPr/>
        </p:nvSpPr>
        <p:spPr bwMode="auto">
          <a:xfrm rot="0">
            <a:off x="647310" y="140545"/>
            <a:ext cx="9318137" cy="90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1"/>
              </a:lnSpc>
              <a:defRPr/>
            </a:pPr>
            <a:r>
              <a:rPr lang="es-CO" sz="4800" spc="-164">
                <a:solidFill>
                  <a:srgbClr val="292727"/>
                </a:solidFill>
                <a:latin typeface="Arial"/>
                <a:ea typeface="Arial"/>
                <a:cs typeface="Arial"/>
              </a:rPr>
              <a:t>Modelo de diseño</a:t>
            </a:r>
            <a:endParaRPr lang="es-CO" sz="4800" spc="-164">
              <a:solidFill>
                <a:srgbClr val="2927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7031128" name=""/>
          <p:cNvSpPr txBox="1"/>
          <p:nvPr/>
        </p:nvSpPr>
        <p:spPr bwMode="auto">
          <a:xfrm rot="0" flipH="0" flipV="0">
            <a:off x="547971" y="798490"/>
            <a:ext cx="5812090" cy="84236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7"/>
              </a:lnSpc>
              <a:defRPr/>
            </a:pPr>
            <a:r>
              <a:rPr sz="2800">
                <a:latin typeface="Arial"/>
                <a:cs typeface="Arial"/>
              </a:rPr>
              <a:t>c. Vista de procesos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82747472" name=""/>
          <p:cNvSpPr txBox="1"/>
          <p:nvPr/>
        </p:nvSpPr>
        <p:spPr bwMode="auto">
          <a:xfrm rot="0" flipH="0" flipV="0">
            <a:off x="579047" y="1695449"/>
            <a:ext cx="3671771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s-MX" sz="2000">
                <a:latin typeface="Arial"/>
                <a:ea typeface="Arial"/>
                <a:cs typeface="Arial"/>
              </a:rPr>
              <a:t>Segunda parte diagrama de secuencia perteneciente a Crear contrato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6925441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11949" y="1640859"/>
            <a:ext cx="14171228" cy="82174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231456" name="AutoShape 2"/>
          <p:cNvSpPr/>
          <p:nvPr/>
        </p:nvSpPr>
        <p:spPr bwMode="auto">
          <a:xfrm rot="0">
            <a:off x="-170508" y="967581"/>
            <a:ext cx="18458507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1890354" name="AutoShape 4"/>
          <p:cNvSpPr/>
          <p:nvPr/>
        </p:nvSpPr>
        <p:spPr bwMode="auto">
          <a:xfrm flipV="1">
            <a:off x="579047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79237510" name="TextBox 6"/>
          <p:cNvSpPr txBox="1"/>
          <p:nvPr/>
        </p:nvSpPr>
        <p:spPr bwMode="auto">
          <a:xfrm rot="0">
            <a:off x="780894" y="2491551"/>
            <a:ext cx="5573046" cy="274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600745696" name="TextBox 7"/>
          <p:cNvSpPr txBox="1"/>
          <p:nvPr/>
        </p:nvSpPr>
        <p:spPr bwMode="auto">
          <a:xfrm rot="0">
            <a:off x="647310" y="140545"/>
            <a:ext cx="9318137" cy="90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1"/>
              </a:lnSpc>
              <a:defRPr/>
            </a:pPr>
            <a:r>
              <a:rPr lang="es-CO" sz="4800" spc="-164">
                <a:solidFill>
                  <a:srgbClr val="292727"/>
                </a:solidFill>
                <a:latin typeface="Arial"/>
                <a:ea typeface="Arial"/>
                <a:cs typeface="Arial"/>
              </a:rPr>
              <a:t>Modelo de diseño</a:t>
            </a:r>
            <a:endParaRPr lang="es-CO" sz="4800" spc="-164">
              <a:solidFill>
                <a:srgbClr val="2927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8562069" name=""/>
          <p:cNvSpPr txBox="1"/>
          <p:nvPr/>
        </p:nvSpPr>
        <p:spPr bwMode="auto">
          <a:xfrm rot="0" flipH="0" flipV="0">
            <a:off x="547971" y="798490"/>
            <a:ext cx="5812090" cy="84236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7"/>
              </a:lnSpc>
              <a:defRPr/>
            </a:pPr>
            <a:r>
              <a:rPr sz="2800">
                <a:latin typeface="Arial"/>
                <a:cs typeface="Arial"/>
              </a:rPr>
              <a:t>c. Vista de procesos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93832603" name=""/>
          <p:cNvSpPr txBox="1"/>
          <p:nvPr/>
        </p:nvSpPr>
        <p:spPr bwMode="auto">
          <a:xfrm rot="0" flipH="0" flipV="0">
            <a:off x="579047" y="1532880"/>
            <a:ext cx="4380909" cy="1920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es-MX" sz="2000">
                <a:latin typeface="Arial"/>
                <a:ea typeface="Arial"/>
                <a:cs typeface="Arial"/>
              </a:rPr>
              <a:t>Se dividira el diagrama de secuencia perteneciente a Generar factura mensual en varias partes para poder visualizar de la mejor manera su comportamiento.</a:t>
            </a:r>
            <a:endParaRPr lang="es-MX" sz="2000">
              <a:latin typeface="Arial"/>
              <a:ea typeface="Arial"/>
              <a:cs typeface="Arial"/>
            </a:endParaRPr>
          </a:p>
          <a:p>
            <a:pPr algn="just">
              <a:defRPr/>
            </a:pPr>
            <a:endParaRPr sz="2000"/>
          </a:p>
        </p:txBody>
      </p:sp>
      <p:pic>
        <p:nvPicPr>
          <p:cNvPr id="20535079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959957" y="1042985"/>
            <a:ext cx="12679724" cy="90092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854751" name="AutoShape 2"/>
          <p:cNvSpPr/>
          <p:nvPr/>
        </p:nvSpPr>
        <p:spPr bwMode="auto">
          <a:xfrm rot="0">
            <a:off x="-170508" y="967581"/>
            <a:ext cx="18458507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63548984" name="AutoShape 4"/>
          <p:cNvSpPr/>
          <p:nvPr/>
        </p:nvSpPr>
        <p:spPr bwMode="auto">
          <a:xfrm flipV="1">
            <a:off x="579047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3007084" name="TextBox 6"/>
          <p:cNvSpPr txBox="1"/>
          <p:nvPr/>
        </p:nvSpPr>
        <p:spPr bwMode="auto">
          <a:xfrm rot="0">
            <a:off x="780894" y="2491551"/>
            <a:ext cx="5573046" cy="274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2051022074" name="TextBox 7"/>
          <p:cNvSpPr txBox="1"/>
          <p:nvPr/>
        </p:nvSpPr>
        <p:spPr bwMode="auto">
          <a:xfrm rot="0">
            <a:off x="647310" y="140545"/>
            <a:ext cx="9318137" cy="90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1"/>
              </a:lnSpc>
              <a:defRPr/>
            </a:pPr>
            <a:r>
              <a:rPr lang="es-CO" sz="4800" spc="-164">
                <a:solidFill>
                  <a:srgbClr val="292727"/>
                </a:solidFill>
                <a:latin typeface="Arial"/>
                <a:ea typeface="Arial"/>
                <a:cs typeface="Arial"/>
              </a:rPr>
              <a:t>Modelo de diseño</a:t>
            </a:r>
            <a:endParaRPr lang="es-CO" sz="4800" spc="-164">
              <a:solidFill>
                <a:srgbClr val="2927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5307286" name=""/>
          <p:cNvSpPr txBox="1"/>
          <p:nvPr/>
        </p:nvSpPr>
        <p:spPr bwMode="auto">
          <a:xfrm rot="0" flipH="0" flipV="0">
            <a:off x="547971" y="798490"/>
            <a:ext cx="5812090" cy="84236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7"/>
              </a:lnSpc>
              <a:defRPr/>
            </a:pPr>
            <a:r>
              <a:rPr sz="2800">
                <a:latin typeface="Arial"/>
                <a:cs typeface="Arial"/>
              </a:rPr>
              <a:t>c. Vista de procesos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23706999" name=""/>
          <p:cNvSpPr txBox="1"/>
          <p:nvPr/>
        </p:nvSpPr>
        <p:spPr bwMode="auto">
          <a:xfrm rot="0" flipH="0" flipV="0">
            <a:off x="579047" y="1695449"/>
            <a:ext cx="3691571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s-MX" sz="2000">
                <a:latin typeface="Arial"/>
                <a:ea typeface="Arial"/>
                <a:cs typeface="Arial"/>
              </a:rPr>
              <a:t>Segunda parte diagrama de secuencia perteneciente a Generar factura mensual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1445934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062412" y="1695449"/>
            <a:ext cx="13689057" cy="788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430236" name="AutoShape 2"/>
          <p:cNvSpPr/>
          <p:nvPr/>
        </p:nvSpPr>
        <p:spPr bwMode="auto">
          <a:xfrm rot="0">
            <a:off x="-170509" y="967581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37066884" name="AutoShape 3"/>
          <p:cNvSpPr/>
          <p:nvPr/>
        </p:nvSpPr>
        <p:spPr bwMode="auto">
          <a:xfrm rot="0">
            <a:off x="0" y="10039349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35606553" name="AutoShape 4"/>
          <p:cNvSpPr/>
          <p:nvPr/>
        </p:nvSpPr>
        <p:spPr bwMode="auto">
          <a:xfrm flipV="1">
            <a:off x="579048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86592417" name="TextBox 6"/>
          <p:cNvSpPr txBox="1"/>
          <p:nvPr/>
        </p:nvSpPr>
        <p:spPr bwMode="auto">
          <a:xfrm rot="0">
            <a:off x="780895" y="2491551"/>
            <a:ext cx="5573047" cy="27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544466441" name="TextBox 7"/>
          <p:cNvSpPr txBox="1"/>
          <p:nvPr/>
        </p:nvSpPr>
        <p:spPr bwMode="auto">
          <a:xfrm rot="0">
            <a:off x="647311" y="140546"/>
            <a:ext cx="9326058" cy="90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2"/>
              </a:lnSpc>
              <a:defRPr/>
            </a:pPr>
            <a:r>
              <a:rPr lang="es-CO" sz="4800" spc="-165">
                <a:solidFill>
                  <a:srgbClr val="292727"/>
                </a:solidFill>
                <a:latin typeface="Arial"/>
                <a:ea typeface="Arial"/>
                <a:cs typeface="Arial"/>
              </a:rPr>
              <a:t>Modelo de implementacion</a:t>
            </a:r>
            <a:endParaRPr lang="es-CO" sz="4800" spc="-165">
              <a:solidFill>
                <a:srgbClr val="2927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1292765" name=""/>
          <p:cNvSpPr txBox="1"/>
          <p:nvPr/>
        </p:nvSpPr>
        <p:spPr bwMode="auto">
          <a:xfrm rot="0" flipH="0" flipV="0">
            <a:off x="579047" y="1027090"/>
            <a:ext cx="5808490" cy="84224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9"/>
              </a:lnSpc>
              <a:defRPr/>
            </a:pPr>
            <a:r>
              <a:rPr sz="2800">
                <a:latin typeface="Arial"/>
                <a:cs typeface="Arial"/>
              </a:rPr>
              <a:t>a. Vista de desarrollo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69422851" name=""/>
          <p:cNvSpPr txBox="1"/>
          <p:nvPr/>
        </p:nvSpPr>
        <p:spPr bwMode="auto">
          <a:xfrm rot="0" flipH="0" flipV="0">
            <a:off x="647311" y="2035980"/>
            <a:ext cx="5039002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endParaRPr sz="2000"/>
          </a:p>
        </p:txBody>
      </p:sp>
      <p:pic>
        <p:nvPicPr>
          <p:cNvPr id="80123789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940173" y="1869459"/>
            <a:ext cx="13755724" cy="7571958"/>
          </a:xfrm>
          <a:prstGeom prst="rect">
            <a:avLst/>
          </a:prstGeom>
        </p:spPr>
      </p:pic>
      <p:sp>
        <p:nvSpPr>
          <p:cNvPr id="1793295750" name=""/>
          <p:cNvSpPr txBox="1"/>
          <p:nvPr/>
        </p:nvSpPr>
        <p:spPr bwMode="auto">
          <a:xfrm rot="0" flipH="0" flipV="0">
            <a:off x="725849" y="2171700"/>
            <a:ext cx="3146130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es-MX" sz="2000">
                <a:latin typeface="Arial"/>
                <a:ea typeface="Arial"/>
                <a:cs typeface="Arial"/>
              </a:rPr>
              <a:t>Se dividira el diagrama de paquetes en dos partes para poder analizarlo de la mejor manera.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73702" name="AutoShape 2"/>
          <p:cNvSpPr/>
          <p:nvPr/>
        </p:nvSpPr>
        <p:spPr bwMode="auto">
          <a:xfrm rot="0">
            <a:off x="-170509" y="967581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06509951" name="AutoShape 3"/>
          <p:cNvSpPr/>
          <p:nvPr/>
        </p:nvSpPr>
        <p:spPr bwMode="auto">
          <a:xfrm rot="0">
            <a:off x="0" y="10039349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67401135" name="AutoShape 4"/>
          <p:cNvSpPr/>
          <p:nvPr/>
        </p:nvSpPr>
        <p:spPr bwMode="auto">
          <a:xfrm flipV="1">
            <a:off x="579048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84827372" name="TextBox 6"/>
          <p:cNvSpPr txBox="1"/>
          <p:nvPr/>
        </p:nvSpPr>
        <p:spPr bwMode="auto">
          <a:xfrm rot="0">
            <a:off x="780895" y="2491551"/>
            <a:ext cx="5573047" cy="27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629287345" name="TextBox 7"/>
          <p:cNvSpPr txBox="1"/>
          <p:nvPr/>
        </p:nvSpPr>
        <p:spPr bwMode="auto">
          <a:xfrm rot="0">
            <a:off x="647311" y="140546"/>
            <a:ext cx="9326058" cy="90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2"/>
              </a:lnSpc>
              <a:defRPr/>
            </a:pPr>
            <a:r>
              <a:rPr lang="es-CO" sz="4800" spc="-165">
                <a:solidFill>
                  <a:srgbClr val="292727"/>
                </a:solidFill>
                <a:latin typeface="Arial"/>
                <a:ea typeface="Arial"/>
                <a:cs typeface="Arial"/>
              </a:rPr>
              <a:t>Modelo de implementacion</a:t>
            </a:r>
            <a:endParaRPr lang="es-CO" sz="4800" spc="-165">
              <a:solidFill>
                <a:srgbClr val="2927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5335423" name=""/>
          <p:cNvSpPr txBox="1"/>
          <p:nvPr/>
        </p:nvSpPr>
        <p:spPr bwMode="auto">
          <a:xfrm rot="0" flipH="0" flipV="0">
            <a:off x="579048" y="1027090"/>
            <a:ext cx="5803451" cy="84236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9"/>
              </a:lnSpc>
              <a:defRPr/>
            </a:pPr>
            <a:r>
              <a:rPr sz="2800">
                <a:latin typeface="Arial"/>
                <a:cs typeface="Arial"/>
              </a:rPr>
              <a:t>a. Vista de desarrollo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11000064" name=""/>
          <p:cNvSpPr txBox="1"/>
          <p:nvPr/>
        </p:nvSpPr>
        <p:spPr bwMode="auto">
          <a:xfrm rot="0" flipH="0" flipV="0">
            <a:off x="647311" y="2035980"/>
            <a:ext cx="5039002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endParaRPr sz="2000"/>
          </a:p>
        </p:txBody>
      </p:sp>
      <p:pic>
        <p:nvPicPr>
          <p:cNvPr id="35775645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72000" y="1374159"/>
            <a:ext cx="12936899" cy="8448587"/>
          </a:xfrm>
          <a:prstGeom prst="rect">
            <a:avLst/>
          </a:prstGeom>
        </p:spPr>
      </p:pic>
      <p:sp>
        <p:nvSpPr>
          <p:cNvPr id="2079724663" name=""/>
          <p:cNvSpPr txBox="1"/>
          <p:nvPr/>
        </p:nvSpPr>
        <p:spPr bwMode="auto">
          <a:xfrm rot="0" flipH="0" flipV="0">
            <a:off x="579047" y="1981199"/>
            <a:ext cx="390564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s-MX" sz="2000">
                <a:latin typeface="Arial"/>
                <a:ea typeface="Arial"/>
                <a:cs typeface="Arial"/>
              </a:rPr>
              <a:t>Segunda parte diagrama de paquetes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094201" name="AutoShape 2"/>
          <p:cNvSpPr/>
          <p:nvPr/>
        </p:nvSpPr>
        <p:spPr bwMode="auto">
          <a:xfrm rot="0">
            <a:off x="-170509" y="967581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70092634" name="AutoShape 3"/>
          <p:cNvSpPr/>
          <p:nvPr/>
        </p:nvSpPr>
        <p:spPr bwMode="auto">
          <a:xfrm rot="0">
            <a:off x="0" y="10039349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94349195" name="AutoShape 4"/>
          <p:cNvSpPr/>
          <p:nvPr/>
        </p:nvSpPr>
        <p:spPr bwMode="auto">
          <a:xfrm flipV="1">
            <a:off x="579048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13432918" name="TextBox 6"/>
          <p:cNvSpPr txBox="1"/>
          <p:nvPr/>
        </p:nvSpPr>
        <p:spPr bwMode="auto">
          <a:xfrm rot="0">
            <a:off x="780895" y="2491551"/>
            <a:ext cx="5573047" cy="27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602301196" name="TextBox 7"/>
          <p:cNvSpPr txBox="1"/>
          <p:nvPr/>
        </p:nvSpPr>
        <p:spPr bwMode="auto">
          <a:xfrm rot="0">
            <a:off x="647311" y="140546"/>
            <a:ext cx="9326058" cy="90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2"/>
              </a:lnSpc>
              <a:defRPr/>
            </a:pPr>
            <a:r>
              <a:rPr lang="es-CO" sz="4800" spc="-165">
                <a:solidFill>
                  <a:srgbClr val="292727"/>
                </a:solidFill>
                <a:latin typeface="Arial"/>
                <a:ea typeface="Arial"/>
                <a:cs typeface="Arial"/>
              </a:rPr>
              <a:t>Modelo de implementacion</a:t>
            </a:r>
            <a:endParaRPr lang="es-CO" sz="4800" spc="-165">
              <a:solidFill>
                <a:srgbClr val="2927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860284" name=""/>
          <p:cNvSpPr txBox="1"/>
          <p:nvPr/>
        </p:nvSpPr>
        <p:spPr bwMode="auto">
          <a:xfrm rot="0" flipH="0" flipV="0">
            <a:off x="579048" y="1027090"/>
            <a:ext cx="5811011" cy="84236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5909"/>
              </a:lnSpc>
              <a:defRPr/>
            </a:pPr>
            <a:r>
              <a:rPr sz="2800">
                <a:latin typeface="Arial"/>
                <a:cs typeface="Arial"/>
              </a:rPr>
              <a:t>b. Vista fisica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64428959" name=""/>
          <p:cNvSpPr txBox="1"/>
          <p:nvPr/>
        </p:nvSpPr>
        <p:spPr bwMode="auto">
          <a:xfrm rot="0" flipH="0" flipV="0">
            <a:off x="647311" y="2035980"/>
            <a:ext cx="5039002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endParaRPr sz="2000"/>
          </a:p>
        </p:txBody>
      </p:sp>
      <p:pic>
        <p:nvPicPr>
          <p:cNvPr id="15205379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828800" y="2035980"/>
            <a:ext cx="15021461" cy="7400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077046" name="AutoShape 2"/>
          <p:cNvSpPr/>
          <p:nvPr/>
        </p:nvSpPr>
        <p:spPr bwMode="auto">
          <a:xfrm rot="0">
            <a:off x="-170509" y="1019174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0609905" name="AutoShape 3"/>
          <p:cNvSpPr/>
          <p:nvPr/>
        </p:nvSpPr>
        <p:spPr bwMode="auto">
          <a:xfrm rot="0">
            <a:off x="0" y="9258300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21795898" name="AutoShape 4"/>
          <p:cNvSpPr/>
          <p:nvPr/>
        </p:nvSpPr>
        <p:spPr bwMode="auto">
          <a:xfrm flipV="1">
            <a:off x="579048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54862514" name="TextBox 6"/>
          <p:cNvSpPr txBox="1"/>
          <p:nvPr/>
        </p:nvSpPr>
        <p:spPr bwMode="auto">
          <a:xfrm rot="0" flipH="0" flipV="0">
            <a:off x="1202936" y="2091501"/>
            <a:ext cx="6133982" cy="6081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2" lvl="1" indent="-205105" algn="just">
              <a:lnSpc>
                <a:spcPts val="2659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 modelo de diseño abarcó las cinco vistas arquitectónicas: escenarios, lógica, procesos, desarrollo y física, lo que permitió definir una arquitectura que soporta las responsabilidades diferenciadas de los tres actores del sistema: recepcionista, administrador y propietaria.</a:t>
            </a:r>
            <a:endParaRPr sz="1800">
              <a:latin typeface="Arial"/>
              <a:cs typeface="Arial"/>
            </a:endParaRPr>
          </a:p>
          <a:p>
            <a:pPr marL="410212" lvl="1" indent="-205105" algn="just">
              <a:lnSpc>
                <a:spcPts val="2659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 sistema fue desarrollado e implementado conforme a la arquitectura definida, integrando los módulos de gestión de reservas, habitaciones, contratos y facturación electrónica, dando respuesta a los requisitos identificados en la fase de análisis.</a:t>
            </a:r>
            <a:endParaRPr sz="1800">
              <a:latin typeface="Arial"/>
              <a:cs typeface="Arial"/>
            </a:endParaRPr>
          </a:p>
          <a:p>
            <a:pPr marL="410212" lvl="1" indent="-205105" algn="just">
              <a:lnSpc>
                <a:spcPts val="2659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 análisis de los procesos del hotel permitió identificar los requisitos funcionales del sistema, los cuales quedaron documentados en nueve requerimientos distribuidos en cuatro módulos: reservas, habitaciones, empresas y contratos, y facturación. Este levantamiento se respaldó en los procesos de negocio, los casos de uso del mundo real y el modelo de dominio</a:t>
            </a:r>
            <a:r>
              <a:rPr lang="en-US" sz="1800">
                <a:solidFill>
                  <a:srgbClr val="292727"/>
                </a:solidFill>
                <a:latin typeface="Arial"/>
                <a:ea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41709663" name="TextBox 7"/>
          <p:cNvSpPr txBox="1"/>
          <p:nvPr/>
        </p:nvSpPr>
        <p:spPr bwMode="auto">
          <a:xfrm rot="0">
            <a:off x="1202936" y="1066799"/>
            <a:ext cx="9299418" cy="90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2"/>
              </a:lnSpc>
              <a:defRPr/>
            </a:pPr>
            <a:r>
              <a:rPr lang="es-CO" sz="6400" spc="-165">
                <a:solidFill>
                  <a:srgbClr val="292727"/>
                </a:solidFill>
                <a:latin typeface="Arial"/>
                <a:ea typeface="Arial"/>
                <a:cs typeface="Arial"/>
              </a:rPr>
              <a:t>Conclusiones</a:t>
            </a:r>
            <a:endParaRPr>
              <a:latin typeface="Arial"/>
              <a:cs typeface="Arial"/>
            </a:endParaRPr>
          </a:p>
        </p:txBody>
      </p:sp>
      <p:sp>
        <p:nvSpPr>
          <p:cNvPr id="207130234" name="Freeform 4"/>
          <p:cNvSpPr/>
          <p:nvPr/>
        </p:nvSpPr>
        <p:spPr bwMode="auto">
          <a:xfrm rot="0" flipH="0" flipV="0">
            <a:off x="10216589" y="1689551"/>
            <a:ext cx="6095982" cy="6095982"/>
          </a:xfrm>
          <a:custGeom>
            <a:avLst/>
            <a:gdLst/>
            <a:ahLst/>
            <a:cxnLst/>
            <a:rect l="l" t="t" r="r" b="b"/>
            <a:pathLst>
              <a:path w="6095983" h="6095983" fill="norm" stroke="1" extrusionOk="0">
                <a:moveTo>
                  <a:pt x="0" y="0"/>
                </a:moveTo>
                <a:lnTo>
                  <a:pt x="6095983" y="0"/>
                </a:lnTo>
                <a:lnTo>
                  <a:pt x="6095983" y="6095984"/>
                </a:lnTo>
                <a:lnTo>
                  <a:pt x="0" y="6095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6F0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306948" name="AutoShape 2"/>
          <p:cNvSpPr/>
          <p:nvPr/>
        </p:nvSpPr>
        <p:spPr bwMode="auto">
          <a:xfrm rot="0">
            <a:off x="-170509" y="1019174"/>
            <a:ext cx="18458509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8029389" name="AutoShape 3"/>
          <p:cNvSpPr/>
          <p:nvPr/>
        </p:nvSpPr>
        <p:spPr bwMode="auto">
          <a:xfrm rot="0">
            <a:off x="0" y="9258300"/>
            <a:ext cx="18288000" cy="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8763228" name="AutoShape 4"/>
          <p:cNvSpPr/>
          <p:nvPr/>
        </p:nvSpPr>
        <p:spPr bwMode="auto">
          <a:xfrm flipV="1">
            <a:off x="579048" y="0"/>
            <a:ext cx="0" cy="10287000"/>
          </a:xfrm>
          <a:prstGeom prst="line">
            <a:avLst/>
          </a:prstGeom>
          <a:ln w="9525" cap="flat">
            <a:solidFill>
              <a:srgbClr val="2927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09032510" name="TextBox 6"/>
          <p:cNvSpPr txBox="1"/>
          <p:nvPr/>
        </p:nvSpPr>
        <p:spPr bwMode="auto">
          <a:xfrm rot="0" flipH="0" flipV="0">
            <a:off x="1202936" y="2091501"/>
            <a:ext cx="9110102" cy="246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3879" indent="-283879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BÁEZ CASILLAS, Sixto. </a:t>
            </a:r>
            <a:r>
              <a:rPr sz="1800" b="0" i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Hotelería</a:t>
            </a: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 4 ed. México: CECSA, 2009.</a:t>
            </a:r>
            <a:endParaRPr sz="1800">
              <a:latin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LARMAN, Craig. </a:t>
            </a:r>
            <a:r>
              <a:rPr sz="1800" b="0" i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UML y patrones: Una introducción al análisis y diseño orientado a objetos y al proceso unificado</a:t>
            </a: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 2 ed. Madrid: Pearson Educación, 2003.</a:t>
            </a:r>
            <a:endParaRPr sz="1800">
              <a:latin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TESONE, Dana V. </a:t>
            </a:r>
            <a:r>
              <a:rPr sz="1800" b="0" i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Hospitality information systems and e-commerce</a:t>
            </a: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 Nueva Jersey: Wiley, 2006.</a:t>
            </a:r>
            <a:endParaRPr sz="1800">
              <a:latin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BUHALIS, Dimitrios y O'CONNOR, Peter. Information communication technology revolutionizing tourism. En: </a:t>
            </a:r>
            <a:r>
              <a:rPr sz="1800" b="0" i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Tourism Recreation Research</a:t>
            </a: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 2005. vol. 30, no. 3, p. 7-16.</a:t>
            </a:r>
            <a:endParaRPr sz="1800">
              <a:latin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RUMBAUGH, James; JACOBSON, Ivar y BOOCH, Grady. </a:t>
            </a:r>
            <a:r>
              <a:rPr sz="1800" b="0" i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 proceso unificado de desarrollo de software</a:t>
            </a: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 Madrid: Addison-Wesley, 2000.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05304772" name="TextBox 7"/>
          <p:cNvSpPr txBox="1"/>
          <p:nvPr/>
        </p:nvSpPr>
        <p:spPr bwMode="auto">
          <a:xfrm rot="0">
            <a:off x="1202936" y="1066799"/>
            <a:ext cx="9304458" cy="90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2"/>
              </a:lnSpc>
              <a:defRPr/>
            </a:pPr>
            <a:r>
              <a:rPr lang="es-CO" sz="6400" spc="-165">
                <a:solidFill>
                  <a:srgbClr val="292727"/>
                </a:solidFill>
                <a:latin typeface="Arial"/>
                <a:ea typeface="Arial"/>
                <a:cs typeface="Arial"/>
              </a:rPr>
              <a:t>Bibliografia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27</Slides>
  <Notes>27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Presentacion_Proyecto_5</dc:title>
  <dc:identifier>DAHMCSd7rdg</dc:identifier>
  <cp:lastModifiedBy/>
  <cp:revision>4</cp:revision>
  <dcterms:created xsi:type="dcterms:W3CDTF">2006-08-16T00:00:00Z</dcterms:created>
  <dcterms:modified xsi:type="dcterms:W3CDTF">2026-06-10T03:22:37Z</dcterms:modified>
</cp:coreProperties>
</file>